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MỞ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: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68680" y="1097280"/>
            <a:ext cx="105156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097280"/>
            <a:ext cx="3794760" cy="4892040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76272" y="1874519"/>
            <a:ext cx="1234440" cy="123444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4517" y="3337560"/>
            <a:ext cx="190308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BÁO CÁO</a:t>
            </a:r>
            <a:br>
              <a:rPr dirty="0"/>
            </a:br>
            <a:r>
              <a:rPr lang="en-US" dirty="0"/>
              <a:t>ĐỀ TÀI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5943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13A5A"/>
                </a:solidFill>
                <a:latin typeface="Segoe UI"/>
              </a:defRPr>
            </a:pPr>
            <a:r>
              <a:t>HỆ THỐNG</a:t>
            </a:r>
            <a:br/>
            <a:r>
              <a:t>QUẢN LÝ NHÀ HÀNG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9220" y="3246120"/>
            <a:ext cx="349544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dirty="0" err="1"/>
              <a:t>Môn</a:t>
            </a:r>
            <a:r>
              <a:rPr dirty="0"/>
              <a:t>: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 </a:t>
            </a:r>
            <a:endParaRPr lang="en-US" dirty="0"/>
          </a:p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</a:t>
            </a:r>
            <a:r>
              <a:rPr lang="en-US" dirty="0"/>
              <a:t> Lê </a:t>
            </a:r>
            <a:r>
              <a:rPr lang="en-US" dirty="0" err="1"/>
              <a:t>Văn</a:t>
            </a:r>
            <a:r>
              <a:rPr lang="en-US" dirty="0"/>
              <a:t> Minh</a:t>
            </a:r>
          </a:p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lang="en-US" dirty="0"/>
              <a:t>		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An</a:t>
            </a:r>
          </a:p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lang="en-US" dirty="0"/>
              <a:t>		Lê </a:t>
            </a:r>
            <a:r>
              <a:rPr lang="en-US" dirty="0" err="1"/>
              <a:t>Đức</a:t>
            </a:r>
            <a:r>
              <a:rPr lang="en-US" dirty="0"/>
              <a:t> Anh</a:t>
            </a:r>
          </a:p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</a:t>
            </a:r>
            <a:r>
              <a:rPr lang="en-US" dirty="0" err="1"/>
              <a:t>Th.s</a:t>
            </a:r>
            <a:r>
              <a:rPr lang="en-US" dirty="0"/>
              <a:t>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Uyên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MỤC TIÊU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Mục tiêu đề tài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web 2 </a:t>
            </a:r>
            <a:r>
              <a:rPr dirty="0" err="1"/>
              <a:t>lớp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, </a:t>
            </a:r>
            <a:r>
              <a:rPr dirty="0" err="1"/>
              <a:t>bếp</a:t>
            </a:r>
            <a:r>
              <a:rPr dirty="0"/>
              <a:t>,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, </a:t>
            </a:r>
            <a:r>
              <a:rPr dirty="0" err="1"/>
              <a:t>kho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SQLite,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qua API.</a:t>
            </a:r>
            <a:endParaRPr lang="en-US" dirty="0"/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/>
              <a:t>-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PHẠM VI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Phạm vi và tác nhân sử dụng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Tác nhân: Quản lý, Nhân viên phục vụ, Thu ngân.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Mỗi vai trò có quyền riêng theo nghiệp vụ được phân công.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Hệ thống vận hành cho quy mô nhà hàng vừa với nhiều bàn xử lý song song.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KIẾN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Kiến trúc hệ thống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5074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484986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600200"/>
            <a:ext cx="5074920" cy="6858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600200"/>
            <a:ext cx="5484986" cy="68580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1773936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Lớp giao diện (Frontend)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73936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Lớp xử lý (Backend)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2468880"/>
            <a:ext cx="4319452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HTML/CSS/JavaScrip</a:t>
            </a:r>
            <a:r>
              <a:rPr lang="en-US" dirty="0"/>
              <a:t>t.</a:t>
            </a:r>
            <a:endParaRPr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, order, </a:t>
            </a:r>
            <a:r>
              <a:rPr dirty="0" err="1"/>
              <a:t>bếp</a:t>
            </a:r>
            <a:r>
              <a:rPr dirty="0"/>
              <a:t>, </a:t>
            </a:r>
            <a:endParaRPr lang="en-US"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lang="en-US" dirty="0"/>
              <a:t> 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khiển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lang="en-US" dirty="0"/>
              <a:t> 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468880"/>
            <a:ext cx="522895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Node.js + Express </a:t>
            </a:r>
            <a:r>
              <a:rPr dirty="0" err="1"/>
              <a:t>cung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 REST API.</a:t>
            </a:r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SQLite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order -&gt; </a:t>
            </a:r>
            <a:r>
              <a:rPr dirty="0" err="1"/>
              <a:t>bếp</a:t>
            </a:r>
            <a:r>
              <a:rPr dirty="0"/>
              <a:t> -&gt;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CHỨC NĂNG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Phân hệ chức năng chính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khoản</a:t>
            </a:r>
            <a:r>
              <a:rPr dirty="0"/>
              <a:t>: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,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, </a:t>
            </a:r>
            <a:r>
              <a:rPr dirty="0" err="1"/>
              <a:t>quên</a:t>
            </a:r>
            <a:r>
              <a:rPr dirty="0"/>
              <a:t> </a:t>
            </a:r>
            <a:r>
              <a:rPr dirty="0" err="1"/>
              <a:t>mật</a:t>
            </a:r>
            <a:r>
              <a:rPr dirty="0"/>
              <a:t> </a:t>
            </a:r>
            <a:r>
              <a:rPr dirty="0" err="1"/>
              <a:t>khẩu</a:t>
            </a:r>
            <a:r>
              <a:rPr dirty="0"/>
              <a:t>,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dirty="0"/>
              <a:t>: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,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bếp</a:t>
            </a:r>
            <a:r>
              <a:rPr dirty="0"/>
              <a:t>,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bếp</a:t>
            </a:r>
            <a:r>
              <a:rPr dirty="0"/>
              <a:t>: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tất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Thanh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: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, in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thu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Kho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: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kho</a:t>
            </a:r>
            <a:r>
              <a:rPr dirty="0"/>
              <a:t>, </a:t>
            </a:r>
            <a:r>
              <a:rPr dirty="0" err="1"/>
              <a:t>gán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mức</a:t>
            </a:r>
            <a:r>
              <a:rPr dirty="0"/>
              <a:t>,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trừ</a:t>
            </a:r>
            <a:r>
              <a:rPr dirty="0"/>
              <a:t> </a:t>
            </a:r>
            <a:r>
              <a:rPr dirty="0" err="1"/>
              <a:t>tồn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DỮ LIỆU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002768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lang="en-US" dirty="0"/>
              <a:t>DATABASE (demo)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1307592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85F6A"/>
                </a:solidFill>
                <a:latin typeface="Segoe UI"/>
              </a:defRPr>
            </a:pPr>
            <a:r>
              <a:rPr dirty="0"/>
              <a:t>8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68680" y="1755648"/>
            <a:ext cx="10561320" cy="4315968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05840" y="1920240"/>
          <a:ext cx="102412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94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Bảng</a:t>
                      </a:r>
                    </a:p>
                  </a:txBody>
                  <a:tcPr>
                    <a:solidFill>
                      <a:srgbClr val="21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Mục đích</a:t>
                      </a:r>
                    </a:p>
                  </a:txBody>
                  <a:tcPr>
                    <a:solidFill>
                      <a:srgbClr val="21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nhan_vien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Quản lý tài khoản, vai trò và phiên đăng nhập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ban_an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Lưu thông tin bàn và trạng thái phục vụ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mon_an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Danh mục món ăn và giá bán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nguyen_lieu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Kho nguyên liệu và số lượng tồn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mon_an_nguyen_lieu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Định mức nguyên liệu cho từng 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don_hang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Các dòng order theo bàn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hoa_don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Thanh toán, giảm giá, doanh 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thong_ke_he_thong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Tổng hợp số liệu hệ thống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Liên kết thực thể (ERD)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ban_an (1) - (N) don_hang.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mon_an (1) - (N) don_hang.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ban_an (1) - (N) hoa_don.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mon_an (N) - (N) nguyen_lieu qua mon_an_nguyen_lieu.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thong_ke_he_thong là bảng tổng hợp phục vụ báo cáo nhanh.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BPCN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Biểu đồ phân cấp chức năng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Mức 0: Hệ thống quản lý nhà hàng.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Mức 1: Tài khoản | Bàn &amp; phục vụ | Bếp | Thanh toán | Kho | Báo cáo.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Mức 2: Các chức năng chi tiết trong từng phân hệ.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Mô hình giúp chuẩn hóa phạm vi và luồng triển khai phần mềm.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QUY TRÌNH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Quy trình nghiệp vụ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07592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85F6A"/>
                </a:solidFill>
                <a:latin typeface="Segoe UI"/>
              </a:defRPr>
            </a:pPr>
            <a:r>
              <a:t>Luồng dữ liệu từ order tới doanh thu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Phục vụ</a:t>
            </a:r>
            <a:br/>
            <a:r>
              <a:t>nhận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1828800" cy="256032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27632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44952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Gửi bếp</a:t>
            </a:r>
            <a:br/>
            <a:r>
              <a:t>chế biến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4952" y="2514600"/>
            <a:ext cx="1828800" cy="256032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58184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3752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5504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Bếp hoàn tất</a:t>
            </a:r>
            <a:br/>
            <a:r>
              <a:t>trừ kho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5504" y="2514600"/>
            <a:ext cx="1828800" cy="256032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888736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04304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06056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Thu ngân</a:t>
            </a:r>
            <a:br/>
            <a:r>
              <a:t>thanh toán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6" y="2514600"/>
            <a:ext cx="1828800" cy="256032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19288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34856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36608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Cập nhật</a:t>
            </a:r>
            <a:br/>
            <a:r>
              <a:t>doanh thu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36608" y="2514600"/>
            <a:ext cx="1828800" cy="256032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49840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29200"/>
            <a:ext cx="10332720" cy="960120"/>
          </a:xfrm>
          <a:prstGeom prst="roundRect">
            <a:avLst/>
          </a:prstGeom>
          <a:solidFill>
            <a:srgbClr val="F0F7F8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585F6A"/>
                </a:solidFill>
                <a:latin typeface="Segoe UI"/>
              </a:defRPr>
            </a:pPr>
            <a:r>
              <a:t>Mục tiêu: đồng bộ trạng thái bàn theo thời gian thực và kiểm soát tồn kho tự động sau mỗi món hoàn tất.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KẾT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Kết quả triển khai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1728216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, </a:t>
            </a:r>
            <a:r>
              <a:rPr dirty="0" err="1"/>
              <a:t>tồn</a:t>
            </a:r>
            <a:r>
              <a:rPr dirty="0"/>
              <a:t> </a:t>
            </a:r>
            <a:r>
              <a:rPr dirty="0" err="1"/>
              <a:t>kho</a:t>
            </a:r>
            <a:r>
              <a:rPr dirty="0"/>
              <a:t>,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xuyên</a:t>
            </a:r>
            <a:r>
              <a:rPr dirty="0"/>
              <a:t> </a:t>
            </a:r>
            <a:r>
              <a:rPr dirty="0" err="1"/>
              <a:t>suốt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Giao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thao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thân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,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nâng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MỞ RỘNG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Hạn chế và hướng phát triển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Hiện chưa có dashboard biểu đồ nâng cao theo thời gian.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Chưa tích hợp sao lưu tự động hoặc đa chi nhánh.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Hướng phát triển: phân quyền chi tiết hơn và xác thực bảo mật cao hơn.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Mở rộng API cho ứng dụng di động và cổng thanh toán trực tuyến.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KẾT THÚC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Kết luận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Đề tài đã đáp ứng đầy đủ luồng nghiệp vụ cốt lõi của nhà hàng.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Kiến trúc 2 lớp giúp hệ thống gọn, dễ vận hành và bảo trì.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CSDL quan hệ rõ ràng giúp truy vết dữ liệu chính xác và nhất quán.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Xin cảm ơn thầy/cô và các bạn đã theo dõi.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1019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Lê Minh</cp:lastModifiedBy>
  <cp:revision>2</cp:revision>
  <dcterms:created xsi:type="dcterms:W3CDTF">2013-01-27T09:14:16Z</dcterms:created>
  <dcterms:modified xsi:type="dcterms:W3CDTF">2026-03-30T02:34:33Z</dcterms:modified>
  <cp:category/>
</cp:coreProperties>
</file>