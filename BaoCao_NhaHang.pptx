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48" d="100"/>
          <a:sy n="48" d="100"/>
        </p:scale>
        <p:origin x="53" y="7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C92DFC-B2D8-491E-8013-EF847170CE81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59C946-08D5-4097-87E9-EAC9A0523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7110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59C946-08D5-4097-87E9-EAC9A052391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95993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21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84048" y="0"/>
            <a:ext cx="11807647" cy="146304"/>
          </a:xfrm>
          <a:prstGeom prst="rect">
            <a:avLst/>
          </a:prstGeom>
          <a:solidFill>
            <a:srgbClr val="0A8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018520" y="256032"/>
            <a:ext cx="310896" cy="310896"/>
          </a:xfrm>
          <a:prstGeom prst="ellipse">
            <a:avLst/>
          </a:prstGeom>
          <a:solidFill>
            <a:srgbClr val="E99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384280" y="347472"/>
            <a:ext cx="182880" cy="182880"/>
          </a:xfrm>
          <a:prstGeom prst="ellipse">
            <a:avLst/>
          </a:prstGeom>
          <a:solidFill>
            <a:srgbClr val="0A8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464040" y="219456"/>
            <a:ext cx="1371600" cy="402336"/>
          </a:xfrm>
          <a:prstGeom prst="roundRect">
            <a:avLst/>
          </a:prstGeom>
          <a:solidFill>
            <a:srgbClr val="21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MỞ ĐẦU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55080"/>
            <a:ext cx="10881360" cy="18288"/>
          </a:xfrm>
          <a:prstGeom prst="rect">
            <a:avLst/>
          </a:prstGeom>
          <a:solidFill>
            <a:srgbClr val="D3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6400800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585F6A"/>
                </a:solidFill>
                <a:latin typeface="Segoe UI"/>
              </a:defRPr>
            </a:pPr>
            <a:r>
              <a:t>Đề tài: Hệ thống quản lý nhà hàng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1115568"/>
            <a:ext cx="10515600" cy="4892040"/>
          </a:xfrm>
          <a:prstGeom prst="roundRect">
            <a:avLst/>
          </a:prstGeom>
          <a:solidFill>
            <a:srgbClr val="FFFFFF"/>
          </a:solidFill>
          <a:ln>
            <a:solidFill>
              <a:srgbClr val="D3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68680" y="1097280"/>
            <a:ext cx="3794760" cy="4892040"/>
          </a:xfrm>
          <a:prstGeom prst="roundRect">
            <a:avLst/>
          </a:prstGeom>
          <a:solidFill>
            <a:srgbClr val="21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2176272" y="1874519"/>
            <a:ext cx="1234440" cy="1234440"/>
          </a:xfrm>
          <a:prstGeom prst="ellipse">
            <a:avLst/>
          </a:prstGeom>
          <a:solidFill>
            <a:srgbClr val="E99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rPr dirty="0"/>
              <a:t>NH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14517" y="3337560"/>
            <a:ext cx="1903085" cy="101566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  <a:latin typeface="Segoe UI"/>
              </a:defRPr>
            </a:pPr>
            <a:r>
              <a:rPr dirty="0"/>
              <a:t>BÁO CÁO</a:t>
            </a:r>
            <a:br>
              <a:rPr dirty="0"/>
            </a:br>
            <a:r>
              <a:rPr lang="en-US" dirty="0"/>
              <a:t>ĐỀ TÀI</a:t>
            </a:r>
            <a:endParaRPr dirty="0"/>
          </a:p>
        </p:txBody>
      </p:sp>
      <p:sp>
        <p:nvSpPr>
          <p:cNvPr id="13" name="TextBox 12"/>
          <p:cNvSpPr txBox="1"/>
          <p:nvPr/>
        </p:nvSpPr>
        <p:spPr>
          <a:xfrm>
            <a:off x="5074920" y="1828800"/>
            <a:ext cx="59436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213A5A"/>
                </a:solidFill>
                <a:latin typeface="Segoe UI"/>
              </a:defRPr>
            </a:pPr>
            <a:r>
              <a:rPr dirty="0"/>
              <a:t>HỆ THỐNG</a:t>
            </a:r>
            <a:br>
              <a:rPr dirty="0"/>
            </a:br>
            <a:r>
              <a:rPr dirty="0"/>
              <a:t>QUẢN LÝ NHÀ HÀNG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3250832"/>
            <a:ext cx="379476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585F6A"/>
                </a:solidFill>
                <a:latin typeface="Segoe UI"/>
              </a:defRPr>
            </a:pPr>
            <a:r>
              <a:rPr dirty="0" err="1"/>
              <a:t>Môn</a:t>
            </a:r>
            <a:r>
              <a:rPr dirty="0"/>
              <a:t>: </a:t>
            </a:r>
            <a:r>
              <a:rPr dirty="0" err="1"/>
              <a:t>Kỹ</a:t>
            </a:r>
            <a:r>
              <a:rPr dirty="0"/>
              <a:t> </a:t>
            </a:r>
            <a:r>
              <a:rPr dirty="0" err="1"/>
              <a:t>thuật</a:t>
            </a:r>
            <a:r>
              <a:rPr dirty="0"/>
              <a:t> </a:t>
            </a:r>
            <a:r>
              <a:rPr dirty="0" err="1"/>
              <a:t>phần</a:t>
            </a:r>
            <a:r>
              <a:rPr dirty="0"/>
              <a:t> </a:t>
            </a:r>
            <a:r>
              <a:rPr dirty="0" err="1"/>
              <a:t>mềm</a:t>
            </a:r>
            <a:endParaRPr lang="en-US" dirty="0"/>
          </a:p>
          <a:p>
            <a:pPr>
              <a:defRPr sz="1600" b="0">
                <a:solidFill>
                  <a:srgbClr val="585F6A"/>
                </a:solidFill>
                <a:latin typeface="Segoe UI"/>
              </a:defRPr>
            </a:pPr>
            <a:r>
              <a:rPr dirty="0" err="1"/>
              <a:t>Sinh</a:t>
            </a:r>
            <a:r>
              <a:rPr dirty="0"/>
              <a:t> </a:t>
            </a:r>
            <a:r>
              <a:rPr dirty="0" err="1"/>
              <a:t>viên</a:t>
            </a:r>
            <a:r>
              <a:rPr dirty="0"/>
              <a:t>: </a:t>
            </a:r>
            <a:r>
              <a:rPr lang="en-US" dirty="0"/>
              <a:t>Lê </a:t>
            </a:r>
            <a:r>
              <a:rPr lang="en-US" dirty="0" err="1"/>
              <a:t>Văn</a:t>
            </a:r>
            <a:r>
              <a:rPr lang="en-US" dirty="0"/>
              <a:t> Minh</a:t>
            </a:r>
          </a:p>
          <a:p>
            <a:pPr>
              <a:defRPr sz="1600" b="0">
                <a:solidFill>
                  <a:srgbClr val="585F6A"/>
                </a:solidFill>
                <a:latin typeface="Segoe UI"/>
              </a:defRPr>
            </a:pPr>
            <a:r>
              <a:rPr lang="en-US" dirty="0"/>
              <a:t>		</a:t>
            </a:r>
            <a:r>
              <a:rPr lang="en-US" dirty="0" err="1"/>
              <a:t>Nguyễn</a:t>
            </a:r>
            <a:r>
              <a:rPr lang="en-US" dirty="0"/>
              <a:t> </a:t>
            </a:r>
            <a:r>
              <a:rPr lang="en-US" dirty="0" err="1"/>
              <a:t>Trường</a:t>
            </a:r>
            <a:r>
              <a:rPr lang="en-US" dirty="0"/>
              <a:t> An</a:t>
            </a:r>
          </a:p>
          <a:p>
            <a:pPr>
              <a:defRPr sz="1600" b="0">
                <a:solidFill>
                  <a:srgbClr val="585F6A"/>
                </a:solidFill>
                <a:latin typeface="Segoe UI"/>
              </a:defRPr>
            </a:pPr>
            <a:r>
              <a:rPr lang="en-US" dirty="0"/>
              <a:t>		Lê </a:t>
            </a:r>
            <a:r>
              <a:rPr lang="en-US" dirty="0" err="1"/>
              <a:t>Đức</a:t>
            </a:r>
            <a:r>
              <a:rPr lang="en-US" dirty="0"/>
              <a:t> Anh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21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84048" y="0"/>
            <a:ext cx="11807647" cy="146304"/>
          </a:xfrm>
          <a:prstGeom prst="rect">
            <a:avLst/>
          </a:prstGeom>
          <a:solidFill>
            <a:srgbClr val="0A8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018520" y="256032"/>
            <a:ext cx="310896" cy="310896"/>
          </a:xfrm>
          <a:prstGeom prst="ellipse">
            <a:avLst/>
          </a:prstGeom>
          <a:solidFill>
            <a:srgbClr val="E99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384280" y="347472"/>
            <a:ext cx="182880" cy="182880"/>
          </a:xfrm>
          <a:prstGeom prst="ellipse">
            <a:avLst/>
          </a:prstGeom>
          <a:solidFill>
            <a:srgbClr val="0A8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464040" y="219456"/>
            <a:ext cx="1371600" cy="402336"/>
          </a:xfrm>
          <a:prstGeom prst="roundRect">
            <a:avLst/>
          </a:prstGeom>
          <a:solidFill>
            <a:srgbClr val="21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MỤC LỤC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55080"/>
            <a:ext cx="10881360" cy="18288"/>
          </a:xfrm>
          <a:prstGeom prst="rect">
            <a:avLst/>
          </a:prstGeom>
          <a:solidFill>
            <a:srgbClr val="D3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6400800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585F6A"/>
                </a:solidFill>
                <a:latin typeface="Segoe UI"/>
              </a:defRPr>
            </a:pPr>
            <a:r>
              <a:t>Đề tài: Hệ thống quản lý nhà hàng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57200"/>
            <a:ext cx="877824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700" b="1">
                <a:solidFill>
                  <a:srgbClr val="213A5A"/>
                </a:solidFill>
                <a:latin typeface="Segoe UI"/>
              </a:defRPr>
            </a:pPr>
            <a:r>
              <a:t>Nội dung báo cáo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1600200"/>
            <a:ext cx="1056132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D3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987552" y="1783080"/>
            <a:ext cx="109728" cy="4160520"/>
          </a:xfrm>
          <a:prstGeom prst="rect">
            <a:avLst/>
          </a:prstGeom>
          <a:solidFill>
            <a:srgbClr val="0A8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07008" y="1828800"/>
            <a:ext cx="100126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 b="0">
                <a:solidFill>
                  <a:srgbClr val="22262C"/>
                </a:solidFill>
                <a:latin typeface="Segoe UI"/>
              </a:defRPr>
            </a:pPr>
            <a:r>
              <a:rPr dirty="0"/>
              <a:t>- </a:t>
            </a:r>
            <a:r>
              <a:rPr dirty="0" err="1"/>
              <a:t>Tổng</a:t>
            </a:r>
            <a:r>
              <a:rPr dirty="0"/>
              <a:t> </a:t>
            </a:r>
            <a:r>
              <a:rPr dirty="0" err="1"/>
              <a:t>quan</a:t>
            </a:r>
            <a:r>
              <a:rPr dirty="0"/>
              <a:t> </a:t>
            </a:r>
            <a:r>
              <a:rPr dirty="0" err="1"/>
              <a:t>đề</a:t>
            </a:r>
            <a:r>
              <a:rPr dirty="0"/>
              <a:t> </a:t>
            </a:r>
            <a:r>
              <a:rPr dirty="0" err="1"/>
              <a:t>tài</a:t>
            </a:r>
            <a:r>
              <a:rPr dirty="0"/>
              <a:t> </a:t>
            </a:r>
            <a:r>
              <a:rPr dirty="0" err="1"/>
              <a:t>và</a:t>
            </a:r>
            <a:r>
              <a:rPr dirty="0"/>
              <a:t> </a:t>
            </a:r>
            <a:r>
              <a:rPr dirty="0" err="1"/>
              <a:t>mục</a:t>
            </a:r>
            <a:r>
              <a:rPr dirty="0"/>
              <a:t> </a:t>
            </a:r>
            <a:r>
              <a:rPr dirty="0" err="1"/>
              <a:t>tiêu</a:t>
            </a:r>
            <a:r>
              <a:rPr dirty="0"/>
              <a:t> </a:t>
            </a:r>
            <a:r>
              <a:rPr dirty="0" err="1"/>
              <a:t>triển</a:t>
            </a:r>
            <a:r>
              <a:rPr dirty="0"/>
              <a:t> </a:t>
            </a:r>
            <a:r>
              <a:rPr dirty="0" err="1"/>
              <a:t>khai</a:t>
            </a:r>
            <a:r>
              <a:rPr dirty="0"/>
              <a:t>.</a:t>
            </a:r>
          </a:p>
          <a:p>
            <a:pPr>
              <a:spcAft>
                <a:spcPts val="1000"/>
              </a:spcAft>
              <a:defRPr sz="2400" b="0">
                <a:solidFill>
                  <a:srgbClr val="22262C"/>
                </a:solidFill>
                <a:latin typeface="Segoe UI"/>
              </a:defRPr>
            </a:pPr>
            <a:r>
              <a:rPr dirty="0"/>
              <a:t>- </a:t>
            </a:r>
            <a:r>
              <a:rPr dirty="0" err="1"/>
              <a:t>Kiến</a:t>
            </a:r>
            <a:r>
              <a:rPr dirty="0"/>
              <a:t> </a:t>
            </a:r>
            <a:r>
              <a:rPr dirty="0" err="1"/>
              <a:t>trúc</a:t>
            </a:r>
            <a:r>
              <a:rPr dirty="0"/>
              <a:t> </a:t>
            </a:r>
            <a:r>
              <a:rPr dirty="0" err="1"/>
              <a:t>hệ</a:t>
            </a:r>
            <a:r>
              <a:rPr dirty="0"/>
              <a:t> </a:t>
            </a:r>
            <a:r>
              <a:rPr dirty="0" err="1"/>
              <a:t>thống</a:t>
            </a:r>
            <a:r>
              <a:rPr dirty="0"/>
              <a:t>, </a:t>
            </a:r>
            <a:r>
              <a:rPr dirty="0" err="1"/>
              <a:t>phân</a:t>
            </a:r>
            <a:r>
              <a:rPr dirty="0"/>
              <a:t> </a:t>
            </a:r>
            <a:r>
              <a:rPr dirty="0" err="1"/>
              <a:t>hệ</a:t>
            </a:r>
            <a:r>
              <a:rPr dirty="0"/>
              <a:t> </a:t>
            </a:r>
            <a:r>
              <a:rPr dirty="0" err="1"/>
              <a:t>chức</a:t>
            </a:r>
            <a:r>
              <a:rPr dirty="0"/>
              <a:t> </a:t>
            </a:r>
            <a:r>
              <a:rPr dirty="0" err="1"/>
              <a:t>năng</a:t>
            </a:r>
            <a:r>
              <a:rPr dirty="0"/>
              <a:t> </a:t>
            </a:r>
            <a:r>
              <a:rPr dirty="0" err="1"/>
              <a:t>và</a:t>
            </a:r>
            <a:r>
              <a:rPr dirty="0"/>
              <a:t> </a:t>
            </a:r>
            <a:r>
              <a:rPr dirty="0" err="1"/>
              <a:t>mô</a:t>
            </a:r>
            <a:r>
              <a:rPr dirty="0"/>
              <a:t> </a:t>
            </a:r>
            <a:r>
              <a:rPr dirty="0" err="1"/>
              <a:t>hình</a:t>
            </a:r>
            <a:r>
              <a:rPr dirty="0"/>
              <a:t> </a:t>
            </a:r>
            <a:r>
              <a:rPr dirty="0" err="1"/>
              <a:t>dữ</a:t>
            </a:r>
            <a:r>
              <a:rPr dirty="0"/>
              <a:t> </a:t>
            </a:r>
            <a:r>
              <a:rPr dirty="0" err="1"/>
              <a:t>liệu</a:t>
            </a:r>
            <a:r>
              <a:rPr dirty="0"/>
              <a:t>.</a:t>
            </a:r>
          </a:p>
          <a:p>
            <a:pPr>
              <a:spcAft>
                <a:spcPts val="1000"/>
              </a:spcAft>
              <a:defRPr sz="2400" b="0">
                <a:solidFill>
                  <a:srgbClr val="22262C"/>
                </a:solidFill>
                <a:latin typeface="Segoe UI"/>
              </a:defRPr>
            </a:pPr>
            <a:r>
              <a:rPr dirty="0"/>
              <a:t>- Use case, </a:t>
            </a:r>
            <a:r>
              <a:rPr dirty="0" err="1"/>
              <a:t>quy</a:t>
            </a:r>
            <a:r>
              <a:rPr dirty="0"/>
              <a:t> </a:t>
            </a:r>
            <a:r>
              <a:rPr dirty="0" err="1"/>
              <a:t>trình</a:t>
            </a:r>
            <a:r>
              <a:rPr dirty="0"/>
              <a:t> </a:t>
            </a:r>
            <a:r>
              <a:rPr dirty="0" err="1"/>
              <a:t>nghiệp</a:t>
            </a:r>
            <a:r>
              <a:rPr dirty="0"/>
              <a:t> </a:t>
            </a:r>
            <a:r>
              <a:rPr dirty="0" err="1"/>
              <a:t>vụ</a:t>
            </a:r>
            <a:r>
              <a:rPr dirty="0"/>
              <a:t> </a:t>
            </a:r>
            <a:r>
              <a:rPr dirty="0" err="1"/>
              <a:t>và</a:t>
            </a:r>
            <a:r>
              <a:rPr dirty="0"/>
              <a:t> </a:t>
            </a:r>
            <a:r>
              <a:rPr dirty="0" err="1"/>
              <a:t>kết</a:t>
            </a:r>
            <a:r>
              <a:rPr dirty="0"/>
              <a:t> </a:t>
            </a:r>
            <a:r>
              <a:rPr dirty="0" err="1"/>
              <a:t>quả</a:t>
            </a:r>
            <a:r>
              <a:rPr dirty="0"/>
              <a:t> </a:t>
            </a:r>
            <a:r>
              <a:rPr dirty="0" err="1"/>
              <a:t>thực</a:t>
            </a:r>
            <a:r>
              <a:rPr dirty="0"/>
              <a:t> </a:t>
            </a:r>
            <a:r>
              <a:rPr dirty="0" err="1"/>
              <a:t>hiện</a:t>
            </a:r>
            <a:r>
              <a:rPr dirty="0"/>
              <a:t>.</a:t>
            </a:r>
          </a:p>
          <a:p>
            <a:pPr>
              <a:spcAft>
                <a:spcPts val="1000"/>
              </a:spcAft>
              <a:defRPr sz="2400" b="0">
                <a:solidFill>
                  <a:srgbClr val="22262C"/>
                </a:solidFill>
                <a:latin typeface="Segoe UI"/>
              </a:defRPr>
            </a:pPr>
            <a:r>
              <a:rPr dirty="0"/>
              <a:t>- </a:t>
            </a:r>
            <a:r>
              <a:rPr dirty="0" err="1"/>
              <a:t>Đánh</a:t>
            </a:r>
            <a:r>
              <a:rPr dirty="0"/>
              <a:t> </a:t>
            </a:r>
            <a:r>
              <a:rPr dirty="0" err="1"/>
              <a:t>giá</a:t>
            </a:r>
            <a:r>
              <a:rPr dirty="0"/>
              <a:t>, </a:t>
            </a:r>
            <a:r>
              <a:rPr dirty="0" err="1"/>
              <a:t>hạn</a:t>
            </a:r>
            <a:r>
              <a:rPr dirty="0"/>
              <a:t> </a:t>
            </a:r>
            <a:r>
              <a:rPr dirty="0" err="1"/>
              <a:t>chế</a:t>
            </a:r>
            <a:r>
              <a:rPr dirty="0"/>
              <a:t> </a:t>
            </a:r>
            <a:r>
              <a:rPr dirty="0" err="1"/>
              <a:t>và</a:t>
            </a:r>
            <a:r>
              <a:rPr dirty="0"/>
              <a:t> </a:t>
            </a:r>
            <a:r>
              <a:rPr dirty="0" err="1"/>
              <a:t>hướng</a:t>
            </a:r>
            <a:r>
              <a:rPr dirty="0"/>
              <a:t> </a:t>
            </a:r>
            <a:r>
              <a:rPr dirty="0" err="1"/>
              <a:t>phát</a:t>
            </a:r>
            <a:r>
              <a:rPr dirty="0"/>
              <a:t> </a:t>
            </a:r>
            <a:r>
              <a:rPr dirty="0" err="1"/>
              <a:t>triển</a:t>
            </a:r>
            <a:r>
              <a:rPr dirty="0"/>
              <a:t> </a:t>
            </a:r>
            <a:r>
              <a:rPr dirty="0" err="1"/>
              <a:t>tiếp</a:t>
            </a:r>
            <a:r>
              <a:rPr dirty="0"/>
              <a:t> </a:t>
            </a:r>
            <a:r>
              <a:rPr dirty="0" err="1"/>
              <a:t>theo.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21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84048" y="0"/>
            <a:ext cx="11807647" cy="146304"/>
          </a:xfrm>
          <a:prstGeom prst="rect">
            <a:avLst/>
          </a:prstGeom>
          <a:solidFill>
            <a:srgbClr val="0A8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018520" y="256032"/>
            <a:ext cx="310896" cy="310896"/>
          </a:xfrm>
          <a:prstGeom prst="ellipse">
            <a:avLst/>
          </a:prstGeom>
          <a:solidFill>
            <a:srgbClr val="E99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384280" y="347472"/>
            <a:ext cx="182880" cy="182880"/>
          </a:xfrm>
          <a:prstGeom prst="ellipse">
            <a:avLst/>
          </a:prstGeom>
          <a:solidFill>
            <a:srgbClr val="0A8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464040" y="219456"/>
            <a:ext cx="1371600" cy="402336"/>
          </a:xfrm>
          <a:prstGeom prst="roundRect">
            <a:avLst/>
          </a:prstGeom>
          <a:solidFill>
            <a:srgbClr val="21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MỤC TIÊU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55080"/>
            <a:ext cx="10881360" cy="18288"/>
          </a:xfrm>
          <a:prstGeom prst="rect">
            <a:avLst/>
          </a:prstGeom>
          <a:solidFill>
            <a:srgbClr val="D3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6400800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585F6A"/>
                </a:solidFill>
                <a:latin typeface="Segoe UI"/>
              </a:defRPr>
            </a:pPr>
            <a:r>
              <a:t>Đề tài: Hệ thống quản lý nhà hàng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57200"/>
            <a:ext cx="877824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700" b="1">
                <a:solidFill>
                  <a:srgbClr val="213A5A"/>
                </a:solidFill>
                <a:latin typeface="Segoe UI"/>
              </a:defRPr>
            </a:pPr>
            <a:r>
              <a:t>Mục tiêu đề tài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1600200"/>
            <a:ext cx="1056132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D3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987552" y="1783080"/>
            <a:ext cx="109728" cy="4160520"/>
          </a:xfrm>
          <a:prstGeom prst="rect">
            <a:avLst/>
          </a:prstGeom>
          <a:solidFill>
            <a:srgbClr val="0A8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07008" y="1828800"/>
            <a:ext cx="10012680" cy="30623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 b="0">
                <a:solidFill>
                  <a:srgbClr val="22262C"/>
                </a:solidFill>
                <a:latin typeface="Segoe UI"/>
              </a:defRPr>
            </a:pPr>
            <a:r>
              <a:rPr dirty="0"/>
              <a:t>- </a:t>
            </a:r>
            <a:r>
              <a:rPr dirty="0" err="1"/>
              <a:t>Xây</a:t>
            </a:r>
            <a:r>
              <a:rPr dirty="0"/>
              <a:t> </a:t>
            </a:r>
            <a:r>
              <a:rPr dirty="0" err="1"/>
              <a:t>dựng</a:t>
            </a:r>
            <a:r>
              <a:rPr dirty="0"/>
              <a:t> </a:t>
            </a:r>
            <a:r>
              <a:rPr dirty="0" err="1"/>
              <a:t>hệ</a:t>
            </a:r>
            <a:r>
              <a:rPr dirty="0"/>
              <a:t> </a:t>
            </a:r>
            <a:r>
              <a:rPr dirty="0" err="1"/>
              <a:t>thống</a:t>
            </a:r>
            <a:r>
              <a:rPr dirty="0"/>
              <a:t> </a:t>
            </a:r>
            <a:r>
              <a:rPr dirty="0" err="1"/>
              <a:t>quản</a:t>
            </a:r>
            <a:r>
              <a:rPr dirty="0"/>
              <a:t> </a:t>
            </a:r>
            <a:r>
              <a:rPr dirty="0" err="1"/>
              <a:t>lý</a:t>
            </a:r>
            <a:r>
              <a:rPr dirty="0"/>
              <a:t> </a:t>
            </a:r>
            <a:r>
              <a:rPr dirty="0" err="1"/>
              <a:t>hoạt</a:t>
            </a:r>
            <a:r>
              <a:rPr dirty="0"/>
              <a:t> </a:t>
            </a:r>
            <a:r>
              <a:rPr dirty="0" err="1"/>
              <a:t>động</a:t>
            </a:r>
            <a:r>
              <a:rPr dirty="0"/>
              <a:t> </a:t>
            </a:r>
            <a:r>
              <a:rPr dirty="0" err="1"/>
              <a:t>nhà</a:t>
            </a:r>
            <a:r>
              <a:rPr dirty="0"/>
              <a:t> </a:t>
            </a:r>
            <a:r>
              <a:rPr dirty="0" err="1"/>
              <a:t>hàng</a:t>
            </a:r>
            <a:r>
              <a:rPr dirty="0"/>
              <a:t> </a:t>
            </a:r>
            <a:r>
              <a:rPr dirty="0" err="1"/>
              <a:t>theo</a:t>
            </a:r>
            <a:r>
              <a:rPr dirty="0"/>
              <a:t> </a:t>
            </a:r>
            <a:r>
              <a:rPr dirty="0" err="1"/>
              <a:t>mô</a:t>
            </a:r>
            <a:r>
              <a:rPr dirty="0"/>
              <a:t> </a:t>
            </a:r>
            <a:r>
              <a:rPr dirty="0" err="1"/>
              <a:t>hình</a:t>
            </a:r>
            <a:r>
              <a:rPr dirty="0"/>
              <a:t> web 2 </a:t>
            </a:r>
            <a:r>
              <a:rPr dirty="0" err="1"/>
              <a:t>lớp</a:t>
            </a:r>
            <a:r>
              <a:rPr dirty="0"/>
              <a:t>.</a:t>
            </a:r>
          </a:p>
          <a:p>
            <a:pPr>
              <a:spcAft>
                <a:spcPts val="1000"/>
              </a:spcAft>
              <a:defRPr sz="2400" b="0">
                <a:solidFill>
                  <a:srgbClr val="22262C"/>
                </a:solidFill>
                <a:latin typeface="Segoe UI"/>
              </a:defRPr>
            </a:pPr>
            <a:r>
              <a:rPr dirty="0"/>
              <a:t>- </a:t>
            </a:r>
            <a:r>
              <a:rPr dirty="0" err="1"/>
              <a:t>Đáp</a:t>
            </a:r>
            <a:r>
              <a:rPr dirty="0"/>
              <a:t> </a:t>
            </a:r>
            <a:r>
              <a:rPr dirty="0" err="1"/>
              <a:t>ứng</a:t>
            </a:r>
            <a:r>
              <a:rPr dirty="0"/>
              <a:t> </a:t>
            </a:r>
            <a:r>
              <a:rPr dirty="0" err="1"/>
              <a:t>các</a:t>
            </a:r>
            <a:r>
              <a:rPr dirty="0"/>
              <a:t> </a:t>
            </a:r>
            <a:r>
              <a:rPr dirty="0" err="1"/>
              <a:t>nghiệp</a:t>
            </a:r>
            <a:r>
              <a:rPr dirty="0"/>
              <a:t> </a:t>
            </a:r>
            <a:r>
              <a:rPr dirty="0" err="1"/>
              <a:t>vụ</a:t>
            </a:r>
            <a:r>
              <a:rPr dirty="0"/>
              <a:t> </a:t>
            </a:r>
            <a:r>
              <a:rPr dirty="0" err="1"/>
              <a:t>chính</a:t>
            </a:r>
            <a:r>
              <a:rPr dirty="0"/>
              <a:t>: </a:t>
            </a:r>
            <a:r>
              <a:rPr lang="en-US" dirty="0" err="1"/>
              <a:t>đăng</a:t>
            </a:r>
            <a:r>
              <a:rPr lang="en-US" dirty="0"/>
              <a:t> </a:t>
            </a:r>
            <a:r>
              <a:rPr lang="en-US" dirty="0" err="1"/>
              <a:t>nhập</a:t>
            </a:r>
            <a:r>
              <a:rPr lang="en-US" dirty="0"/>
              <a:t> </a:t>
            </a:r>
            <a:r>
              <a:rPr lang="en-US" dirty="0" err="1"/>
              <a:t>hệ</a:t>
            </a:r>
            <a:r>
              <a:rPr lang="en-US" dirty="0"/>
              <a:t> </a:t>
            </a:r>
            <a:r>
              <a:rPr lang="en-US" dirty="0" err="1"/>
              <a:t>thống</a:t>
            </a:r>
            <a:r>
              <a:rPr lang="en-US" dirty="0"/>
              <a:t>, </a:t>
            </a:r>
            <a:r>
              <a:rPr dirty="0" err="1"/>
              <a:t>phục</a:t>
            </a:r>
            <a:r>
              <a:rPr dirty="0"/>
              <a:t> </a:t>
            </a:r>
            <a:r>
              <a:rPr dirty="0" err="1"/>
              <a:t>vụ</a:t>
            </a:r>
            <a:r>
              <a:rPr lang="en-US" dirty="0"/>
              <a:t> </a:t>
            </a:r>
            <a:r>
              <a:rPr lang="en-US" dirty="0" err="1"/>
              <a:t>nhà</a:t>
            </a:r>
            <a:r>
              <a:rPr lang="en-US" dirty="0"/>
              <a:t> </a:t>
            </a:r>
            <a:r>
              <a:rPr lang="en-US" dirty="0" err="1"/>
              <a:t>hàng</a:t>
            </a:r>
            <a:r>
              <a:rPr dirty="0"/>
              <a:t>, </a:t>
            </a:r>
            <a:r>
              <a:rPr dirty="0" err="1"/>
              <a:t>thanh</a:t>
            </a:r>
            <a:r>
              <a:rPr dirty="0"/>
              <a:t> </a:t>
            </a:r>
            <a:r>
              <a:rPr dirty="0" err="1"/>
              <a:t>toán</a:t>
            </a:r>
            <a:r>
              <a:rPr lang="en-US" dirty="0"/>
              <a:t> </a:t>
            </a:r>
            <a:r>
              <a:rPr lang="en-US" dirty="0" err="1"/>
              <a:t>hóa</a:t>
            </a:r>
            <a:r>
              <a:rPr lang="en-US" dirty="0"/>
              <a:t> </a:t>
            </a:r>
            <a:r>
              <a:rPr lang="en-US" dirty="0" err="1"/>
              <a:t>đơn</a:t>
            </a:r>
            <a:r>
              <a:rPr dirty="0"/>
              <a:t>,</a:t>
            </a:r>
            <a:r>
              <a:rPr lang="en-US" dirty="0"/>
              <a:t> </a:t>
            </a:r>
            <a:r>
              <a:rPr lang="en-US" dirty="0" err="1"/>
              <a:t>quản</a:t>
            </a:r>
            <a:r>
              <a:rPr lang="en-US" dirty="0"/>
              <a:t> </a:t>
            </a:r>
            <a:r>
              <a:rPr lang="en-US" dirty="0" err="1"/>
              <a:t>lý</a:t>
            </a:r>
            <a:r>
              <a:rPr dirty="0"/>
              <a:t> </a:t>
            </a:r>
            <a:r>
              <a:rPr dirty="0" err="1"/>
              <a:t>kho</a:t>
            </a:r>
            <a:r>
              <a:rPr dirty="0"/>
              <a:t> </a:t>
            </a:r>
            <a:r>
              <a:rPr dirty="0" err="1"/>
              <a:t>nguyên</a:t>
            </a:r>
            <a:r>
              <a:rPr dirty="0"/>
              <a:t> </a:t>
            </a:r>
            <a:r>
              <a:rPr dirty="0" err="1"/>
              <a:t>liệu</a:t>
            </a:r>
            <a:r>
              <a:rPr dirty="0"/>
              <a:t>.</a:t>
            </a:r>
          </a:p>
          <a:p>
            <a:pPr>
              <a:spcAft>
                <a:spcPts val="1000"/>
              </a:spcAft>
              <a:defRPr sz="2400" b="0">
                <a:solidFill>
                  <a:srgbClr val="22262C"/>
                </a:solidFill>
                <a:latin typeface="Segoe UI"/>
              </a:defRPr>
            </a:pPr>
            <a:r>
              <a:rPr dirty="0"/>
              <a:t>- </a:t>
            </a:r>
            <a:r>
              <a:rPr lang="en-US" dirty="0" err="1"/>
              <a:t>Thiết</a:t>
            </a:r>
            <a:r>
              <a:rPr lang="en-US" dirty="0"/>
              <a:t> </a:t>
            </a:r>
            <a:r>
              <a:rPr lang="en-US" dirty="0" err="1"/>
              <a:t>kế</a:t>
            </a:r>
            <a:r>
              <a:rPr lang="en-US" dirty="0"/>
              <a:t>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thực</a:t>
            </a:r>
            <a:r>
              <a:rPr lang="en-US" dirty="0"/>
              <a:t> </a:t>
            </a:r>
            <a:r>
              <a:rPr lang="en-US" dirty="0" err="1"/>
              <a:t>thể</a:t>
            </a:r>
            <a:r>
              <a:rPr lang="en-US" dirty="0"/>
              <a:t> </a:t>
            </a:r>
            <a:r>
              <a:rPr lang="en-US" dirty="0" err="1"/>
              <a:t>liên</a:t>
            </a:r>
            <a:r>
              <a:rPr lang="en-US" dirty="0"/>
              <a:t> </a:t>
            </a:r>
            <a:r>
              <a:rPr lang="en-US" dirty="0" err="1"/>
              <a:t>kết</a:t>
            </a:r>
            <a:r>
              <a:rPr lang="en-US" dirty="0"/>
              <a:t>, </a:t>
            </a:r>
            <a:r>
              <a:rPr lang="en-US" dirty="0" err="1"/>
              <a:t>bảng</a:t>
            </a:r>
            <a:r>
              <a:rPr lang="en-US" dirty="0"/>
              <a:t> </a:t>
            </a:r>
            <a:r>
              <a:rPr lang="en-US" dirty="0" err="1"/>
              <a:t>quan</a:t>
            </a:r>
            <a:r>
              <a:rPr lang="en-US" dirty="0"/>
              <a:t> </a:t>
            </a:r>
            <a:r>
              <a:rPr lang="en-US" dirty="0" err="1"/>
              <a:t>hệ</a:t>
            </a:r>
            <a:r>
              <a:rPr lang="en-US" dirty="0"/>
              <a:t>,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biểu</a:t>
            </a:r>
            <a:r>
              <a:rPr lang="en-US" dirty="0"/>
              <a:t> </a:t>
            </a:r>
            <a:r>
              <a:rPr lang="en-US" dirty="0" err="1"/>
              <a:t>đồ</a:t>
            </a:r>
            <a:r>
              <a:rPr lang="en-US" dirty="0"/>
              <a:t>, use case, </a:t>
            </a:r>
            <a:r>
              <a:rPr lang="en-US" dirty="0" err="1"/>
              <a:t>kịch</a:t>
            </a:r>
            <a:r>
              <a:rPr lang="en-US" dirty="0"/>
              <a:t> </a:t>
            </a:r>
            <a:r>
              <a:rPr lang="en-US" dirty="0" err="1"/>
              <a:t>bản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data base.</a:t>
            </a:r>
          </a:p>
          <a:p>
            <a:pPr>
              <a:spcAft>
                <a:spcPts val="1000"/>
              </a:spcAft>
              <a:defRPr sz="2400" b="0">
                <a:solidFill>
                  <a:srgbClr val="22262C"/>
                </a:solidFill>
                <a:latin typeface="Segoe UI"/>
              </a:defRPr>
            </a:pPr>
            <a:r>
              <a:rPr lang="en-US" dirty="0"/>
              <a:t>- 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21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84048" y="0"/>
            <a:ext cx="11807647" cy="146304"/>
          </a:xfrm>
          <a:prstGeom prst="rect">
            <a:avLst/>
          </a:prstGeom>
          <a:solidFill>
            <a:srgbClr val="0A8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018520" y="256032"/>
            <a:ext cx="310896" cy="310896"/>
          </a:xfrm>
          <a:prstGeom prst="ellipse">
            <a:avLst/>
          </a:prstGeom>
          <a:solidFill>
            <a:srgbClr val="E99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384280" y="347472"/>
            <a:ext cx="182880" cy="182880"/>
          </a:xfrm>
          <a:prstGeom prst="ellipse">
            <a:avLst/>
          </a:prstGeom>
          <a:solidFill>
            <a:srgbClr val="0A8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464040" y="219456"/>
            <a:ext cx="1371600" cy="402336"/>
          </a:xfrm>
          <a:prstGeom prst="roundRect">
            <a:avLst/>
          </a:prstGeom>
          <a:solidFill>
            <a:srgbClr val="21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PHẠM VI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55080"/>
            <a:ext cx="10881360" cy="18288"/>
          </a:xfrm>
          <a:prstGeom prst="rect">
            <a:avLst/>
          </a:prstGeom>
          <a:solidFill>
            <a:srgbClr val="D3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6400800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585F6A"/>
                </a:solidFill>
                <a:latin typeface="Segoe UI"/>
              </a:defRPr>
            </a:pPr>
            <a:r>
              <a:t>Đề tài: Hệ thống quản lý nhà hàng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57200"/>
            <a:ext cx="877824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700" b="1">
                <a:solidFill>
                  <a:srgbClr val="213A5A"/>
                </a:solidFill>
                <a:latin typeface="Segoe UI"/>
              </a:defRPr>
            </a:pPr>
            <a:r>
              <a:t>Phạm vi và tác nhân sử dụng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1600200"/>
            <a:ext cx="1056132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D3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987552" y="1783080"/>
            <a:ext cx="109728" cy="4160520"/>
          </a:xfrm>
          <a:prstGeom prst="rect">
            <a:avLst/>
          </a:prstGeom>
          <a:solidFill>
            <a:srgbClr val="0A8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07008" y="1828800"/>
            <a:ext cx="100126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 b="0">
                <a:solidFill>
                  <a:srgbClr val="22262C"/>
                </a:solidFill>
                <a:latin typeface="Segoe UI"/>
              </a:defRPr>
            </a:pPr>
            <a:r>
              <a:rPr dirty="0"/>
              <a:t>- </a:t>
            </a:r>
            <a:r>
              <a:rPr dirty="0" err="1"/>
              <a:t>Tác</a:t>
            </a:r>
            <a:r>
              <a:rPr dirty="0"/>
              <a:t> </a:t>
            </a:r>
            <a:r>
              <a:rPr dirty="0" err="1"/>
              <a:t>nhân</a:t>
            </a:r>
            <a:r>
              <a:rPr dirty="0"/>
              <a:t>: </a:t>
            </a:r>
            <a:r>
              <a:rPr dirty="0" err="1"/>
              <a:t>Quản</a:t>
            </a:r>
            <a:r>
              <a:rPr dirty="0"/>
              <a:t> </a:t>
            </a:r>
            <a:r>
              <a:rPr dirty="0" err="1"/>
              <a:t>lý</a:t>
            </a:r>
            <a:r>
              <a:rPr dirty="0"/>
              <a:t>, </a:t>
            </a:r>
            <a:r>
              <a:rPr dirty="0" err="1"/>
              <a:t>Nhân</a:t>
            </a:r>
            <a:r>
              <a:rPr dirty="0"/>
              <a:t> </a:t>
            </a:r>
            <a:r>
              <a:rPr dirty="0" err="1"/>
              <a:t>viên</a:t>
            </a:r>
            <a:r>
              <a:rPr dirty="0"/>
              <a:t> </a:t>
            </a:r>
            <a:r>
              <a:rPr dirty="0" err="1"/>
              <a:t>phục</a:t>
            </a:r>
            <a:r>
              <a:rPr dirty="0"/>
              <a:t> </a:t>
            </a:r>
            <a:r>
              <a:rPr dirty="0" err="1"/>
              <a:t>vụ</a:t>
            </a:r>
            <a:r>
              <a:rPr dirty="0"/>
              <a:t>, Thu </a:t>
            </a:r>
            <a:r>
              <a:rPr dirty="0" err="1"/>
              <a:t>ngân</a:t>
            </a:r>
            <a:r>
              <a:rPr dirty="0"/>
              <a:t>.</a:t>
            </a:r>
          </a:p>
          <a:p>
            <a:pPr>
              <a:spcAft>
                <a:spcPts val="1000"/>
              </a:spcAft>
              <a:defRPr sz="2400" b="0">
                <a:solidFill>
                  <a:srgbClr val="22262C"/>
                </a:solidFill>
                <a:latin typeface="Segoe UI"/>
              </a:defRPr>
            </a:pPr>
            <a:r>
              <a:rPr dirty="0"/>
              <a:t>- </a:t>
            </a:r>
            <a:r>
              <a:rPr dirty="0" err="1"/>
              <a:t>Mỗi</a:t>
            </a:r>
            <a:r>
              <a:rPr dirty="0"/>
              <a:t> </a:t>
            </a:r>
            <a:r>
              <a:rPr dirty="0" err="1"/>
              <a:t>vai</a:t>
            </a:r>
            <a:r>
              <a:rPr dirty="0"/>
              <a:t> </a:t>
            </a:r>
            <a:r>
              <a:rPr dirty="0" err="1"/>
              <a:t>trò</a:t>
            </a:r>
            <a:r>
              <a:rPr dirty="0"/>
              <a:t> </a:t>
            </a:r>
            <a:r>
              <a:rPr dirty="0" err="1"/>
              <a:t>có</a:t>
            </a:r>
            <a:r>
              <a:rPr dirty="0"/>
              <a:t> </a:t>
            </a:r>
            <a:r>
              <a:rPr dirty="0" err="1"/>
              <a:t>quyền</a:t>
            </a:r>
            <a:r>
              <a:rPr dirty="0"/>
              <a:t> </a:t>
            </a:r>
            <a:r>
              <a:rPr dirty="0" err="1"/>
              <a:t>riêng</a:t>
            </a:r>
            <a:r>
              <a:rPr dirty="0"/>
              <a:t> </a:t>
            </a:r>
            <a:r>
              <a:rPr dirty="0" err="1"/>
              <a:t>theo</a:t>
            </a:r>
            <a:r>
              <a:rPr dirty="0"/>
              <a:t> </a:t>
            </a:r>
            <a:r>
              <a:rPr dirty="0" err="1"/>
              <a:t>nghiệp</a:t>
            </a:r>
            <a:r>
              <a:rPr dirty="0"/>
              <a:t> </a:t>
            </a:r>
            <a:r>
              <a:rPr dirty="0" err="1"/>
              <a:t>vụ</a:t>
            </a:r>
            <a:r>
              <a:rPr dirty="0"/>
              <a:t> </a:t>
            </a:r>
            <a:r>
              <a:rPr dirty="0" err="1"/>
              <a:t>được</a:t>
            </a:r>
            <a:r>
              <a:rPr dirty="0"/>
              <a:t> </a:t>
            </a:r>
            <a:r>
              <a:rPr dirty="0" err="1"/>
              <a:t>phân</a:t>
            </a:r>
            <a:r>
              <a:rPr dirty="0"/>
              <a:t> </a:t>
            </a:r>
            <a:r>
              <a:rPr dirty="0" err="1"/>
              <a:t>công</a:t>
            </a:r>
            <a:r>
              <a:rPr dirty="0"/>
              <a:t>.</a:t>
            </a:r>
          </a:p>
          <a:p>
            <a:pPr>
              <a:spcAft>
                <a:spcPts val="1000"/>
              </a:spcAft>
              <a:defRPr sz="2400" b="0">
                <a:solidFill>
                  <a:srgbClr val="22262C"/>
                </a:solidFill>
                <a:latin typeface="Segoe UI"/>
              </a:defRPr>
            </a:pPr>
            <a:r>
              <a:rPr dirty="0"/>
              <a:t>- </a:t>
            </a:r>
            <a:r>
              <a:rPr dirty="0" err="1"/>
              <a:t>Hệ</a:t>
            </a:r>
            <a:r>
              <a:rPr dirty="0"/>
              <a:t> </a:t>
            </a:r>
            <a:r>
              <a:rPr dirty="0" err="1"/>
              <a:t>thống</a:t>
            </a:r>
            <a:r>
              <a:rPr dirty="0"/>
              <a:t> </a:t>
            </a:r>
            <a:r>
              <a:rPr dirty="0" err="1"/>
              <a:t>vận</a:t>
            </a:r>
            <a:r>
              <a:rPr dirty="0"/>
              <a:t> </a:t>
            </a:r>
            <a:r>
              <a:rPr dirty="0" err="1"/>
              <a:t>hành</a:t>
            </a:r>
            <a:r>
              <a:rPr dirty="0"/>
              <a:t> </a:t>
            </a:r>
            <a:r>
              <a:rPr dirty="0" err="1"/>
              <a:t>cho</a:t>
            </a:r>
            <a:r>
              <a:rPr dirty="0"/>
              <a:t> </a:t>
            </a:r>
            <a:r>
              <a:rPr dirty="0" err="1"/>
              <a:t>quy</a:t>
            </a:r>
            <a:r>
              <a:rPr dirty="0"/>
              <a:t> </a:t>
            </a:r>
            <a:r>
              <a:rPr dirty="0" err="1"/>
              <a:t>mô</a:t>
            </a:r>
            <a:r>
              <a:rPr dirty="0"/>
              <a:t> </a:t>
            </a:r>
            <a:r>
              <a:rPr dirty="0" err="1"/>
              <a:t>nhà</a:t>
            </a:r>
            <a:r>
              <a:rPr dirty="0"/>
              <a:t> </a:t>
            </a:r>
            <a:r>
              <a:rPr dirty="0" err="1"/>
              <a:t>hàng</a:t>
            </a:r>
            <a:r>
              <a:rPr dirty="0"/>
              <a:t> </a:t>
            </a:r>
            <a:r>
              <a:rPr dirty="0" err="1"/>
              <a:t>vừa</a:t>
            </a:r>
            <a:r>
              <a:rPr dirty="0"/>
              <a:t> </a:t>
            </a:r>
            <a:r>
              <a:rPr dirty="0" err="1"/>
              <a:t>với</a:t>
            </a:r>
            <a:r>
              <a:rPr dirty="0"/>
              <a:t> </a:t>
            </a:r>
            <a:r>
              <a:rPr dirty="0" err="1"/>
              <a:t>nhiều</a:t>
            </a:r>
            <a:r>
              <a:rPr dirty="0"/>
              <a:t> </a:t>
            </a:r>
            <a:r>
              <a:rPr dirty="0" err="1"/>
              <a:t>bàn</a:t>
            </a:r>
            <a:r>
              <a:rPr dirty="0"/>
              <a:t> </a:t>
            </a:r>
            <a:r>
              <a:rPr dirty="0" err="1"/>
              <a:t>xử</a:t>
            </a:r>
            <a:r>
              <a:rPr dirty="0"/>
              <a:t> </a:t>
            </a:r>
            <a:r>
              <a:rPr dirty="0" err="1"/>
              <a:t>lý</a:t>
            </a:r>
            <a:r>
              <a:rPr dirty="0"/>
              <a:t> song </a:t>
            </a:r>
            <a:r>
              <a:rPr dirty="0" err="1"/>
              <a:t>song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21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84048" y="0"/>
            <a:ext cx="11807647" cy="146304"/>
          </a:xfrm>
          <a:prstGeom prst="rect">
            <a:avLst/>
          </a:prstGeom>
          <a:solidFill>
            <a:srgbClr val="0A8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018520" y="256032"/>
            <a:ext cx="310896" cy="310896"/>
          </a:xfrm>
          <a:prstGeom prst="ellipse">
            <a:avLst/>
          </a:prstGeom>
          <a:solidFill>
            <a:srgbClr val="E99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384280" y="347472"/>
            <a:ext cx="182880" cy="182880"/>
          </a:xfrm>
          <a:prstGeom prst="ellipse">
            <a:avLst/>
          </a:prstGeom>
          <a:solidFill>
            <a:srgbClr val="0A8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464040" y="219456"/>
            <a:ext cx="1371600" cy="402336"/>
          </a:xfrm>
          <a:prstGeom prst="roundRect">
            <a:avLst/>
          </a:prstGeom>
          <a:solidFill>
            <a:srgbClr val="21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KIẾN TRÚC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55080"/>
            <a:ext cx="10881360" cy="18288"/>
          </a:xfrm>
          <a:prstGeom prst="rect">
            <a:avLst/>
          </a:prstGeom>
          <a:solidFill>
            <a:srgbClr val="D3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6400800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585F6A"/>
                </a:solidFill>
                <a:latin typeface="Segoe UI"/>
              </a:defRPr>
            </a:pPr>
            <a:r>
              <a:t>Đề tài: Hệ thống quản lý nhà hàng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57200"/>
            <a:ext cx="877824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700" b="1">
                <a:solidFill>
                  <a:srgbClr val="213A5A"/>
                </a:solidFill>
                <a:latin typeface="Segoe UI"/>
              </a:defRPr>
            </a:pPr>
            <a:r>
              <a:t>Kiến trúc hệ thống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1600200"/>
            <a:ext cx="507492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D3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263640" y="1600200"/>
            <a:ext cx="521208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D3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68680" y="1600200"/>
            <a:ext cx="5074920" cy="685800"/>
          </a:xfrm>
          <a:prstGeom prst="rect">
            <a:avLst/>
          </a:prstGeom>
          <a:solidFill>
            <a:srgbClr val="21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355080" y="1600200"/>
            <a:ext cx="5212080" cy="685800"/>
          </a:xfrm>
          <a:prstGeom prst="rect">
            <a:avLst/>
          </a:prstGeom>
          <a:solidFill>
            <a:srgbClr val="0A8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97280" y="1773936"/>
            <a:ext cx="4617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900" b="1">
                <a:solidFill>
                  <a:srgbClr val="FFFFFF"/>
                </a:solidFill>
                <a:latin typeface="Segoe UI"/>
              </a:defRPr>
            </a:pPr>
            <a:r>
              <a:t>Lớp giao diện (Frontend)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1773936"/>
            <a:ext cx="4617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900" b="1">
                <a:solidFill>
                  <a:srgbClr val="FFFFFF"/>
                </a:solidFill>
                <a:latin typeface="Segoe UI"/>
              </a:defRPr>
            </a:pPr>
            <a:r>
              <a:t>Lớp xử lý (Backend)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" y="2468880"/>
            <a:ext cx="4700326" cy="293926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900"/>
              </a:spcAft>
              <a:defRPr sz="2000" b="0">
                <a:solidFill>
                  <a:srgbClr val="22262C"/>
                </a:solidFill>
                <a:latin typeface="Segoe UI"/>
              </a:defRPr>
            </a:pPr>
            <a:r>
              <a:rPr dirty="0"/>
              <a:t>- HTML/CSS/JavaScript.</a:t>
            </a:r>
          </a:p>
          <a:p>
            <a:pPr>
              <a:spcAft>
                <a:spcPts val="900"/>
              </a:spcAft>
              <a:defRPr sz="2000" b="0">
                <a:solidFill>
                  <a:srgbClr val="22262C"/>
                </a:solidFill>
                <a:latin typeface="Segoe UI"/>
              </a:defRPr>
            </a:pPr>
            <a:r>
              <a:rPr dirty="0"/>
              <a:t>- </a:t>
            </a:r>
            <a:r>
              <a:rPr dirty="0" err="1"/>
              <a:t>Hiển</a:t>
            </a:r>
            <a:r>
              <a:rPr dirty="0"/>
              <a:t> </a:t>
            </a:r>
            <a:r>
              <a:rPr dirty="0" err="1"/>
              <a:t>thị</a:t>
            </a:r>
            <a:r>
              <a:rPr dirty="0"/>
              <a:t> </a:t>
            </a:r>
            <a:r>
              <a:rPr dirty="0" err="1"/>
              <a:t>trạng</a:t>
            </a:r>
            <a:r>
              <a:rPr dirty="0"/>
              <a:t> </a:t>
            </a:r>
            <a:r>
              <a:rPr dirty="0" err="1"/>
              <a:t>thái</a:t>
            </a:r>
            <a:r>
              <a:rPr dirty="0"/>
              <a:t> </a:t>
            </a:r>
            <a:r>
              <a:rPr dirty="0" err="1"/>
              <a:t>bàn</a:t>
            </a:r>
            <a:r>
              <a:rPr dirty="0"/>
              <a:t>, order, </a:t>
            </a:r>
            <a:endParaRPr lang="en-US" dirty="0"/>
          </a:p>
          <a:p>
            <a:pPr>
              <a:spcAft>
                <a:spcPts val="900"/>
              </a:spcAft>
              <a:defRPr sz="2000" b="0">
                <a:solidFill>
                  <a:srgbClr val="22262C"/>
                </a:solidFill>
                <a:latin typeface="Segoe UI"/>
              </a:defRPr>
            </a:pPr>
            <a:r>
              <a:rPr dirty="0" err="1"/>
              <a:t>hóa</a:t>
            </a:r>
            <a:r>
              <a:rPr dirty="0"/>
              <a:t> </a:t>
            </a:r>
            <a:r>
              <a:rPr dirty="0" err="1"/>
              <a:t>đơn</a:t>
            </a:r>
            <a:r>
              <a:rPr lang="en-US" dirty="0"/>
              <a:t>, </a:t>
            </a:r>
            <a:r>
              <a:rPr lang="en-US" dirty="0" err="1"/>
              <a:t>kho</a:t>
            </a:r>
            <a:r>
              <a:rPr lang="en-US" dirty="0"/>
              <a:t> </a:t>
            </a:r>
            <a:r>
              <a:rPr lang="en-US" dirty="0" err="1"/>
              <a:t>nguyên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.</a:t>
            </a:r>
            <a:endParaRPr dirty="0"/>
          </a:p>
          <a:p>
            <a:pPr>
              <a:spcAft>
                <a:spcPts val="900"/>
              </a:spcAft>
              <a:defRPr sz="2000" b="0">
                <a:solidFill>
                  <a:srgbClr val="22262C"/>
                </a:solidFill>
                <a:latin typeface="Segoe UI"/>
              </a:defRPr>
            </a:pPr>
            <a:r>
              <a:rPr dirty="0"/>
              <a:t>- </a:t>
            </a:r>
            <a:r>
              <a:rPr dirty="0" err="1"/>
              <a:t>Điều</a:t>
            </a:r>
            <a:r>
              <a:rPr dirty="0"/>
              <a:t> </a:t>
            </a:r>
            <a:r>
              <a:rPr dirty="0" err="1"/>
              <a:t>khiển</a:t>
            </a:r>
            <a:r>
              <a:rPr dirty="0"/>
              <a:t> </a:t>
            </a:r>
            <a:r>
              <a:rPr dirty="0" err="1"/>
              <a:t>phân</a:t>
            </a:r>
            <a:r>
              <a:rPr dirty="0"/>
              <a:t> </a:t>
            </a:r>
            <a:r>
              <a:rPr dirty="0" err="1"/>
              <a:t>quyền</a:t>
            </a:r>
            <a:r>
              <a:rPr dirty="0"/>
              <a:t> </a:t>
            </a:r>
            <a:r>
              <a:rPr dirty="0" err="1"/>
              <a:t>theo</a:t>
            </a:r>
            <a:r>
              <a:rPr dirty="0"/>
              <a:t> </a:t>
            </a:r>
            <a:r>
              <a:rPr dirty="0" err="1"/>
              <a:t>vai</a:t>
            </a:r>
            <a:r>
              <a:rPr dirty="0"/>
              <a:t> </a:t>
            </a:r>
            <a:r>
              <a:rPr dirty="0" err="1"/>
              <a:t>trò</a:t>
            </a:r>
            <a:r>
              <a:rPr dirty="0"/>
              <a:t> </a:t>
            </a:r>
            <a:endParaRPr lang="en-US" dirty="0"/>
          </a:p>
          <a:p>
            <a:pPr>
              <a:spcAft>
                <a:spcPts val="900"/>
              </a:spcAft>
              <a:defRPr sz="2000" b="0">
                <a:solidFill>
                  <a:srgbClr val="22262C"/>
                </a:solidFill>
                <a:latin typeface="Segoe UI"/>
              </a:defRPr>
            </a:pPr>
            <a:r>
              <a:rPr dirty="0" err="1"/>
              <a:t>đăng</a:t>
            </a:r>
            <a:r>
              <a:rPr dirty="0"/>
              <a:t> </a:t>
            </a:r>
            <a:r>
              <a:rPr dirty="0" err="1"/>
              <a:t>nhập</a:t>
            </a:r>
            <a:r>
              <a:rPr dirty="0"/>
              <a:t>.</a:t>
            </a:r>
            <a:endParaRPr lang="en-US" dirty="0"/>
          </a:p>
          <a:p>
            <a:pPr>
              <a:spcAft>
                <a:spcPts val="900"/>
              </a:spcAft>
              <a:defRPr sz="2000" b="0">
                <a:solidFill>
                  <a:srgbClr val="22262C"/>
                </a:solidFill>
                <a:latin typeface="Segoe UI"/>
              </a:defRPr>
            </a:pPr>
            <a:r>
              <a:rPr lang="en-US" dirty="0"/>
              <a:t>- </a:t>
            </a:r>
            <a:r>
              <a:rPr lang="en-US" dirty="0" err="1"/>
              <a:t>Đăng</a:t>
            </a:r>
            <a:r>
              <a:rPr lang="en-US" dirty="0"/>
              <a:t> </a:t>
            </a:r>
            <a:r>
              <a:rPr lang="en-US" dirty="0" err="1"/>
              <a:t>nhập</a:t>
            </a:r>
            <a:r>
              <a:rPr lang="en-US" dirty="0"/>
              <a:t>, </a:t>
            </a:r>
            <a:r>
              <a:rPr lang="en-US" dirty="0" err="1"/>
              <a:t>đăng</a:t>
            </a:r>
            <a:r>
              <a:rPr lang="en-US" dirty="0"/>
              <a:t> </a:t>
            </a:r>
            <a:r>
              <a:rPr lang="en-US" dirty="0" err="1"/>
              <a:t>ký</a:t>
            </a:r>
            <a:r>
              <a:rPr lang="en-US" dirty="0"/>
              <a:t> </a:t>
            </a:r>
            <a:r>
              <a:rPr lang="en-US" dirty="0" err="1"/>
              <a:t>theo</a:t>
            </a:r>
            <a:r>
              <a:rPr lang="en-US" dirty="0"/>
              <a:t> </a:t>
            </a:r>
            <a:r>
              <a:rPr lang="en-US" dirty="0" err="1"/>
              <a:t>vai</a:t>
            </a:r>
            <a:r>
              <a:rPr lang="en-US" dirty="0"/>
              <a:t> </a:t>
            </a:r>
            <a:r>
              <a:rPr lang="en-US" dirty="0" err="1"/>
              <a:t>trò</a:t>
            </a:r>
            <a:r>
              <a:rPr lang="en-US" dirty="0"/>
              <a:t>, </a:t>
            </a:r>
            <a:r>
              <a:rPr lang="en-US" dirty="0" err="1"/>
              <a:t>quên</a:t>
            </a:r>
            <a:endParaRPr lang="en-US" dirty="0"/>
          </a:p>
          <a:p>
            <a:pPr>
              <a:spcAft>
                <a:spcPts val="900"/>
              </a:spcAft>
              <a:defRPr sz="2000" b="0">
                <a:solidFill>
                  <a:srgbClr val="22262C"/>
                </a:solidFill>
                <a:latin typeface="Segoe UI"/>
              </a:defRPr>
            </a:pPr>
            <a:r>
              <a:rPr lang="en-US" dirty="0" err="1"/>
              <a:t>mật</a:t>
            </a:r>
            <a:r>
              <a:rPr lang="en-US" dirty="0"/>
              <a:t> </a:t>
            </a:r>
            <a:r>
              <a:rPr lang="en-US" dirty="0" err="1"/>
              <a:t>khẩu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17" name="TextBox 16"/>
          <p:cNvSpPr txBox="1"/>
          <p:nvPr/>
        </p:nvSpPr>
        <p:spPr>
          <a:xfrm>
            <a:off x="6446520" y="2435961"/>
            <a:ext cx="5074920" cy="1554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0">
                <a:solidFill>
                  <a:srgbClr val="22262C"/>
                </a:solidFill>
                <a:latin typeface="Segoe UI"/>
              </a:defRPr>
            </a:pPr>
            <a:r>
              <a:rPr dirty="0"/>
              <a:t>- Node.js + Express </a:t>
            </a:r>
            <a:r>
              <a:rPr dirty="0" err="1"/>
              <a:t>cung</a:t>
            </a:r>
            <a:r>
              <a:rPr dirty="0"/>
              <a:t> </a:t>
            </a:r>
            <a:r>
              <a:rPr dirty="0" err="1"/>
              <a:t>cấp</a:t>
            </a:r>
            <a:r>
              <a:rPr dirty="0"/>
              <a:t> REST API.</a:t>
            </a:r>
          </a:p>
          <a:p>
            <a:pPr>
              <a:spcAft>
                <a:spcPts val="900"/>
              </a:spcAft>
              <a:defRPr sz="2000" b="0">
                <a:solidFill>
                  <a:srgbClr val="22262C"/>
                </a:solidFill>
                <a:latin typeface="Segoe UI"/>
              </a:defRPr>
            </a:pPr>
            <a:r>
              <a:rPr dirty="0"/>
              <a:t>- SQLite </a:t>
            </a:r>
            <a:r>
              <a:rPr dirty="0" err="1"/>
              <a:t>lưu</a:t>
            </a:r>
            <a:r>
              <a:rPr dirty="0"/>
              <a:t> </a:t>
            </a:r>
            <a:r>
              <a:rPr dirty="0" err="1"/>
              <a:t>dữ</a:t>
            </a:r>
            <a:r>
              <a:rPr dirty="0"/>
              <a:t> </a:t>
            </a:r>
            <a:r>
              <a:rPr dirty="0" err="1"/>
              <a:t>liệu</a:t>
            </a:r>
            <a:r>
              <a:rPr dirty="0"/>
              <a:t> </a:t>
            </a:r>
            <a:r>
              <a:rPr dirty="0" err="1"/>
              <a:t>nghiệp</a:t>
            </a:r>
            <a:r>
              <a:rPr dirty="0"/>
              <a:t> </a:t>
            </a:r>
            <a:r>
              <a:rPr dirty="0" err="1"/>
              <a:t>vụ</a:t>
            </a:r>
            <a:r>
              <a:rPr dirty="0"/>
              <a:t> </a:t>
            </a:r>
            <a:r>
              <a:rPr dirty="0" err="1"/>
              <a:t>và</a:t>
            </a:r>
            <a:r>
              <a:rPr dirty="0"/>
              <a:t> </a:t>
            </a:r>
            <a:r>
              <a:rPr dirty="0" err="1"/>
              <a:t>thống</a:t>
            </a:r>
            <a:r>
              <a:rPr dirty="0"/>
              <a:t> </a:t>
            </a:r>
            <a:r>
              <a:rPr dirty="0" err="1"/>
              <a:t>kê</a:t>
            </a:r>
            <a:r>
              <a:rPr dirty="0"/>
              <a:t>.</a:t>
            </a:r>
          </a:p>
          <a:p>
            <a:pPr>
              <a:spcAft>
                <a:spcPts val="900"/>
              </a:spcAft>
              <a:defRPr sz="2000" b="0">
                <a:solidFill>
                  <a:srgbClr val="22262C"/>
                </a:solidFill>
                <a:latin typeface="Segoe UI"/>
              </a:defRPr>
            </a:pPr>
            <a:r>
              <a:rPr dirty="0"/>
              <a:t>- </a:t>
            </a:r>
            <a:r>
              <a:rPr dirty="0" err="1"/>
              <a:t>Xử</a:t>
            </a:r>
            <a:r>
              <a:rPr dirty="0"/>
              <a:t> </a:t>
            </a:r>
            <a:r>
              <a:rPr dirty="0" err="1"/>
              <a:t>lý</a:t>
            </a:r>
            <a:r>
              <a:rPr dirty="0"/>
              <a:t> </a:t>
            </a:r>
            <a:r>
              <a:rPr dirty="0" err="1"/>
              <a:t>quy</a:t>
            </a:r>
            <a:r>
              <a:rPr dirty="0"/>
              <a:t> </a:t>
            </a:r>
            <a:r>
              <a:rPr dirty="0" err="1"/>
              <a:t>trình</a:t>
            </a:r>
            <a:r>
              <a:rPr dirty="0"/>
              <a:t> order -&gt; </a:t>
            </a:r>
            <a:r>
              <a:rPr dirty="0" err="1"/>
              <a:t>bếp</a:t>
            </a:r>
            <a:r>
              <a:rPr dirty="0"/>
              <a:t> -&gt; </a:t>
            </a:r>
            <a:r>
              <a:rPr dirty="0" err="1"/>
              <a:t>thanh</a:t>
            </a:r>
            <a:r>
              <a:rPr dirty="0"/>
              <a:t> </a:t>
            </a:r>
            <a:r>
              <a:rPr dirty="0" err="1"/>
              <a:t>toán</a:t>
            </a:r>
            <a:r>
              <a:rPr lang="en-US" dirty="0"/>
              <a:t>; </a:t>
            </a:r>
            <a:r>
              <a:rPr lang="en-US" dirty="0" err="1"/>
              <a:t>đăng</a:t>
            </a:r>
            <a:r>
              <a:rPr lang="en-US" dirty="0"/>
              <a:t> </a:t>
            </a:r>
            <a:r>
              <a:rPr lang="en-US" dirty="0" err="1"/>
              <a:t>ký</a:t>
            </a:r>
            <a:r>
              <a:rPr lang="en-US" dirty="0"/>
              <a:t> -&gt; </a:t>
            </a:r>
            <a:r>
              <a:rPr lang="en-US" dirty="0" err="1"/>
              <a:t>đăng</a:t>
            </a:r>
            <a:r>
              <a:rPr lang="en-US" dirty="0"/>
              <a:t> </a:t>
            </a:r>
            <a:r>
              <a:rPr lang="en-US" dirty="0" err="1"/>
              <a:t>nhập</a:t>
            </a:r>
            <a:r>
              <a:rPr lang="en-US" dirty="0"/>
              <a:t> ….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21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84048" y="0"/>
            <a:ext cx="11807647" cy="146304"/>
          </a:xfrm>
          <a:prstGeom prst="rect">
            <a:avLst/>
          </a:prstGeom>
          <a:solidFill>
            <a:srgbClr val="0A8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018520" y="256032"/>
            <a:ext cx="310896" cy="310896"/>
          </a:xfrm>
          <a:prstGeom prst="ellipse">
            <a:avLst/>
          </a:prstGeom>
          <a:solidFill>
            <a:srgbClr val="E99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384280" y="347472"/>
            <a:ext cx="182880" cy="182880"/>
          </a:xfrm>
          <a:prstGeom prst="ellipse">
            <a:avLst/>
          </a:prstGeom>
          <a:solidFill>
            <a:srgbClr val="0A8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464040" y="219456"/>
            <a:ext cx="1371600" cy="402336"/>
          </a:xfrm>
          <a:prstGeom prst="roundRect">
            <a:avLst/>
          </a:prstGeom>
          <a:solidFill>
            <a:srgbClr val="21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CHỨC NĂNG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55080"/>
            <a:ext cx="10881360" cy="18288"/>
          </a:xfrm>
          <a:prstGeom prst="rect">
            <a:avLst/>
          </a:prstGeom>
          <a:solidFill>
            <a:srgbClr val="D3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6400800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585F6A"/>
                </a:solidFill>
                <a:latin typeface="Segoe UI"/>
              </a:defRPr>
            </a:pPr>
            <a:r>
              <a:t>Đề tài: Hệ thống quản lý nhà hàng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57200"/>
            <a:ext cx="877824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700" b="1">
                <a:solidFill>
                  <a:srgbClr val="213A5A"/>
                </a:solidFill>
                <a:latin typeface="Segoe UI"/>
              </a:defRPr>
            </a:pPr>
            <a:r>
              <a:t>Phân hệ chức năng chính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1600200"/>
            <a:ext cx="1056132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D3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987552" y="1783080"/>
            <a:ext cx="109728" cy="4160520"/>
          </a:xfrm>
          <a:prstGeom prst="rect">
            <a:avLst/>
          </a:prstGeom>
          <a:solidFill>
            <a:srgbClr val="0A8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07008" y="1828800"/>
            <a:ext cx="100126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 b="0">
                <a:solidFill>
                  <a:srgbClr val="22262C"/>
                </a:solidFill>
                <a:latin typeface="Segoe UI"/>
              </a:defRPr>
            </a:pPr>
            <a:r>
              <a:t>- Quản lý tài khoản: đăng nhập, đăng ký, quên mật khẩu, đăng xuất.</a:t>
            </a:r>
          </a:p>
          <a:p>
            <a:pPr>
              <a:spcAft>
                <a:spcPts val="1000"/>
              </a:spcAft>
              <a:defRPr sz="2400" b="0">
                <a:solidFill>
                  <a:srgbClr val="22262C"/>
                </a:solidFill>
                <a:latin typeface="Segoe UI"/>
              </a:defRPr>
            </a:pPr>
            <a:r>
              <a:t>- Quản lý bàn và order: thêm món, gửi bếp, theo dõi theo từng bàn.</a:t>
            </a:r>
          </a:p>
          <a:p>
            <a:pPr>
              <a:spcAft>
                <a:spcPts val="1000"/>
              </a:spcAft>
              <a:defRPr sz="2400" b="0">
                <a:solidFill>
                  <a:srgbClr val="22262C"/>
                </a:solidFill>
                <a:latin typeface="Segoe UI"/>
              </a:defRPr>
            </a:pPr>
            <a:r>
              <a:t>- Quản lý bếp: xác nhận món hoàn tất và cập nhật trạng thái.</a:t>
            </a:r>
          </a:p>
          <a:p>
            <a:pPr>
              <a:spcAft>
                <a:spcPts val="1000"/>
              </a:spcAft>
              <a:defRPr sz="2400" b="0">
                <a:solidFill>
                  <a:srgbClr val="22262C"/>
                </a:solidFill>
                <a:latin typeface="Segoe UI"/>
              </a:defRPr>
            </a:pPr>
            <a:r>
              <a:t>- Thanh toán hóa đơn: áp mã giảm giá, in hóa đơn, ghi doanh thu.</a:t>
            </a:r>
          </a:p>
          <a:p>
            <a:pPr>
              <a:spcAft>
                <a:spcPts val="1000"/>
              </a:spcAft>
              <a:defRPr sz="2400" b="0">
                <a:solidFill>
                  <a:srgbClr val="22262C"/>
                </a:solidFill>
                <a:latin typeface="Segoe UI"/>
              </a:defRPr>
            </a:pPr>
            <a:r>
              <a:t>- Kho nguyên liệu: thêm kho, gán định mức, tự động trừ tồn.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21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84048" y="0"/>
            <a:ext cx="11807647" cy="146304"/>
          </a:xfrm>
          <a:prstGeom prst="rect">
            <a:avLst/>
          </a:prstGeom>
          <a:solidFill>
            <a:srgbClr val="0A8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018520" y="256032"/>
            <a:ext cx="310896" cy="310896"/>
          </a:xfrm>
          <a:prstGeom prst="ellipse">
            <a:avLst/>
          </a:prstGeom>
          <a:solidFill>
            <a:srgbClr val="E99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384280" y="347472"/>
            <a:ext cx="182880" cy="182880"/>
          </a:xfrm>
          <a:prstGeom prst="ellipse">
            <a:avLst/>
          </a:prstGeom>
          <a:solidFill>
            <a:srgbClr val="0A8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464040" y="219456"/>
            <a:ext cx="1371600" cy="402336"/>
          </a:xfrm>
          <a:prstGeom prst="roundRect">
            <a:avLst/>
          </a:prstGeom>
          <a:solidFill>
            <a:srgbClr val="21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DỮ LIỆU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55080"/>
            <a:ext cx="10881360" cy="18288"/>
          </a:xfrm>
          <a:prstGeom prst="rect">
            <a:avLst/>
          </a:prstGeom>
          <a:solidFill>
            <a:srgbClr val="D3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6400800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585F6A"/>
                </a:solidFill>
                <a:latin typeface="Segoe UI"/>
              </a:defRPr>
            </a:pPr>
            <a:r>
              <a:t>Đề tài: Hệ thống quản lý nhà hàng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0085" y="618440"/>
            <a:ext cx="5665333" cy="661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700" b="1">
                <a:solidFill>
                  <a:srgbClr val="213A5A"/>
                </a:solidFill>
                <a:latin typeface="Segoe UI"/>
              </a:defRPr>
            </a:pPr>
            <a:r>
              <a:rPr dirty="0" err="1"/>
              <a:t>Mô</a:t>
            </a:r>
            <a:r>
              <a:rPr dirty="0"/>
              <a:t> </a:t>
            </a:r>
            <a:r>
              <a:rPr dirty="0" err="1"/>
              <a:t>hình</a:t>
            </a:r>
            <a:r>
              <a:rPr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 </a:t>
            </a:r>
            <a:r>
              <a:rPr lang="en-US" dirty="0" err="1"/>
              <a:t>quan</a:t>
            </a:r>
            <a:r>
              <a:rPr lang="en-US" dirty="0"/>
              <a:t> </a:t>
            </a:r>
            <a:r>
              <a:rPr lang="en-US" dirty="0" err="1"/>
              <a:t>hệ</a:t>
            </a:r>
            <a:endParaRPr dirty="0"/>
          </a:p>
        </p:txBody>
      </p:sp>
      <p:sp>
        <p:nvSpPr>
          <p:cNvPr id="11" name="Rounded Rectangle 10"/>
          <p:cNvSpPr/>
          <p:nvPr/>
        </p:nvSpPr>
        <p:spPr>
          <a:xfrm>
            <a:off x="868680" y="1572768"/>
            <a:ext cx="10561320" cy="4315968"/>
          </a:xfrm>
          <a:prstGeom prst="roundRect">
            <a:avLst/>
          </a:prstGeom>
          <a:solidFill>
            <a:srgbClr val="FFFFFF"/>
          </a:solidFill>
          <a:ln>
            <a:solidFill>
              <a:srgbClr val="D3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0071500"/>
              </p:ext>
            </p:extLst>
          </p:nvPr>
        </p:nvGraphicFramePr>
        <p:xfrm>
          <a:off x="1028700" y="1781383"/>
          <a:ext cx="10241280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40944"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Bảng</a:t>
                      </a:r>
                    </a:p>
                  </a:txBody>
                  <a:tcPr>
                    <a:solidFill>
                      <a:srgbClr val="213A5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Mục đích</a:t>
                      </a:r>
                    </a:p>
                  </a:txBody>
                  <a:tcPr>
                    <a:solidFill>
                      <a:srgbClr val="213A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0944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62C"/>
                          </a:solidFill>
                          <a:latin typeface="Segoe UI"/>
                        </a:defRPr>
                      </a:pPr>
                      <a:r>
                        <a:t>nhan_vien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62C"/>
                          </a:solidFill>
                          <a:latin typeface="Segoe UI"/>
                        </a:defRPr>
                      </a:pPr>
                      <a:r>
                        <a:t>Quản lý tài khoản, vai trò và phiên đăng nhập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0944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62C"/>
                          </a:solidFill>
                          <a:latin typeface="Segoe UI"/>
                        </a:defRPr>
                      </a:pPr>
                      <a:r>
                        <a:t>ban_an</a:t>
                      </a:r>
                    </a:p>
                  </a:txBody>
                  <a:tcPr>
                    <a:solidFill>
                      <a:srgbClr val="F0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62C"/>
                          </a:solidFill>
                          <a:latin typeface="Segoe UI"/>
                        </a:defRPr>
                      </a:pPr>
                      <a:r>
                        <a:t>Lưu thông tin bàn và trạng thái phục vụ</a:t>
                      </a:r>
                    </a:p>
                  </a:txBody>
                  <a:tcPr>
                    <a:solidFill>
                      <a:srgbClr val="F0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0944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62C"/>
                          </a:solidFill>
                          <a:latin typeface="Segoe UI"/>
                        </a:defRPr>
                      </a:pPr>
                      <a:r>
                        <a:rPr dirty="0" err="1"/>
                        <a:t>mon_an</a:t>
                      </a:r>
                      <a:endParaRPr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62C"/>
                          </a:solidFill>
                          <a:latin typeface="Segoe UI"/>
                        </a:defRPr>
                      </a:pPr>
                      <a:r>
                        <a:t>Danh mục món ăn và giá bán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0944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62C"/>
                          </a:solidFill>
                          <a:latin typeface="Segoe UI"/>
                        </a:defRPr>
                      </a:pPr>
                      <a:r>
                        <a:t>nguyen_lieu</a:t>
                      </a:r>
                    </a:p>
                  </a:txBody>
                  <a:tcPr>
                    <a:solidFill>
                      <a:srgbClr val="F0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62C"/>
                          </a:solidFill>
                          <a:latin typeface="Segoe UI"/>
                        </a:defRPr>
                      </a:pPr>
                      <a:r>
                        <a:t>Kho nguyên liệu và số lượng tồn</a:t>
                      </a:r>
                    </a:p>
                  </a:txBody>
                  <a:tcPr>
                    <a:solidFill>
                      <a:srgbClr val="F0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0944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62C"/>
                          </a:solidFill>
                          <a:latin typeface="Segoe UI"/>
                        </a:defRPr>
                      </a:pPr>
                      <a:r>
                        <a:t>mon_an_nguyen_lieu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62C"/>
                          </a:solidFill>
                          <a:latin typeface="Segoe UI"/>
                        </a:defRPr>
                      </a:pPr>
                      <a:r>
                        <a:t>Định mức nguyên liệu cho từng món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0944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62C"/>
                          </a:solidFill>
                          <a:latin typeface="Segoe UI"/>
                        </a:defRPr>
                      </a:pPr>
                      <a:r>
                        <a:t>don_hang</a:t>
                      </a:r>
                    </a:p>
                  </a:txBody>
                  <a:tcPr>
                    <a:solidFill>
                      <a:srgbClr val="F0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62C"/>
                          </a:solidFill>
                          <a:latin typeface="Segoe UI"/>
                        </a:defRPr>
                      </a:pPr>
                      <a:r>
                        <a:t>Các dòng order theo bàn</a:t>
                      </a:r>
                    </a:p>
                  </a:txBody>
                  <a:tcPr>
                    <a:solidFill>
                      <a:srgbClr val="F0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40944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62C"/>
                          </a:solidFill>
                          <a:latin typeface="Segoe UI"/>
                        </a:defRPr>
                      </a:pPr>
                      <a:r>
                        <a:t>hoa_don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62C"/>
                          </a:solidFill>
                          <a:latin typeface="Segoe UI"/>
                        </a:defRPr>
                      </a:pPr>
                      <a:r>
                        <a:t>Thanh toán, giảm giá, doanh thu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40944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62C"/>
                          </a:solidFill>
                          <a:latin typeface="Segoe UI"/>
                        </a:defRPr>
                      </a:pPr>
                      <a:r>
                        <a:rPr dirty="0" err="1"/>
                        <a:t>thong_ke_he_thong</a:t>
                      </a:r>
                      <a:endParaRPr dirty="0"/>
                    </a:p>
                  </a:txBody>
                  <a:tcPr>
                    <a:solidFill>
                      <a:srgbClr val="F0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62C"/>
                          </a:solidFill>
                          <a:latin typeface="Segoe UI"/>
                        </a:defRPr>
                      </a:pPr>
                      <a:r>
                        <a:rPr dirty="0" err="1"/>
                        <a:t>Tổng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hợp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số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liệu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hệ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thống</a:t>
                      </a:r>
                      <a:endParaRPr dirty="0"/>
                    </a:p>
                  </a:txBody>
                  <a:tcPr>
                    <a:solidFill>
                      <a:srgbClr val="F0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21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84048" y="0"/>
            <a:ext cx="11807647" cy="146304"/>
          </a:xfrm>
          <a:prstGeom prst="rect">
            <a:avLst/>
          </a:prstGeom>
          <a:solidFill>
            <a:srgbClr val="0A8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018520" y="256032"/>
            <a:ext cx="310896" cy="310896"/>
          </a:xfrm>
          <a:prstGeom prst="ellipse">
            <a:avLst/>
          </a:prstGeom>
          <a:solidFill>
            <a:srgbClr val="E99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384280" y="347472"/>
            <a:ext cx="182880" cy="182880"/>
          </a:xfrm>
          <a:prstGeom prst="ellipse">
            <a:avLst/>
          </a:prstGeom>
          <a:solidFill>
            <a:srgbClr val="0A8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464040" y="219456"/>
            <a:ext cx="1371600" cy="402336"/>
          </a:xfrm>
          <a:prstGeom prst="roundRect">
            <a:avLst/>
          </a:prstGeom>
          <a:solidFill>
            <a:srgbClr val="21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DATABASE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55080"/>
            <a:ext cx="10881360" cy="18288"/>
          </a:xfrm>
          <a:prstGeom prst="rect">
            <a:avLst/>
          </a:prstGeom>
          <a:solidFill>
            <a:srgbClr val="D3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6400800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585F6A"/>
                </a:solidFill>
                <a:latin typeface="Segoe UI"/>
              </a:defRPr>
            </a:pPr>
            <a:r>
              <a:t>Đề tài: Hệ thống quản lý nhà hàng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57200"/>
            <a:ext cx="2238305" cy="661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700" b="1">
                <a:solidFill>
                  <a:srgbClr val="213A5A"/>
                </a:solidFill>
                <a:latin typeface="Segoe UI"/>
              </a:defRPr>
            </a:pPr>
            <a:r>
              <a:rPr dirty="0"/>
              <a:t>Database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1118920"/>
            <a:ext cx="11168500" cy="5174662"/>
          </a:xfrm>
          <a:prstGeom prst="roundRect">
            <a:avLst/>
          </a:prstGeom>
          <a:solidFill>
            <a:srgbClr val="FFFFFF"/>
          </a:solidFill>
          <a:ln>
            <a:solidFill>
              <a:srgbClr val="D3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E7C3359-D21D-4271-A80C-10D91390EC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9481" y="1283512"/>
            <a:ext cx="10566317" cy="484391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21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84048" y="0"/>
            <a:ext cx="11807647" cy="146304"/>
          </a:xfrm>
          <a:prstGeom prst="rect">
            <a:avLst/>
          </a:prstGeom>
          <a:solidFill>
            <a:srgbClr val="0A8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018520" y="256032"/>
            <a:ext cx="310896" cy="310896"/>
          </a:xfrm>
          <a:prstGeom prst="ellipse">
            <a:avLst/>
          </a:prstGeom>
          <a:solidFill>
            <a:srgbClr val="E99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384280" y="347472"/>
            <a:ext cx="182880" cy="182880"/>
          </a:xfrm>
          <a:prstGeom prst="ellipse">
            <a:avLst/>
          </a:prstGeom>
          <a:solidFill>
            <a:srgbClr val="0A8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464040" y="219456"/>
            <a:ext cx="1371600" cy="402336"/>
          </a:xfrm>
          <a:prstGeom prst="roundRect">
            <a:avLst/>
          </a:prstGeom>
          <a:solidFill>
            <a:srgbClr val="21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ERD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55080"/>
            <a:ext cx="10881360" cy="18288"/>
          </a:xfrm>
          <a:prstGeom prst="rect">
            <a:avLst/>
          </a:prstGeom>
          <a:solidFill>
            <a:srgbClr val="D3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6400800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585F6A"/>
                </a:solidFill>
                <a:latin typeface="Segoe UI"/>
              </a:defRPr>
            </a:pPr>
            <a:r>
              <a:t>Đề tài: Hệ thống quản lý nhà hàng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57200"/>
            <a:ext cx="5192447" cy="661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700" b="1">
                <a:solidFill>
                  <a:srgbClr val="213A5A"/>
                </a:solidFill>
                <a:latin typeface="Segoe UI"/>
              </a:defRPr>
            </a:pPr>
            <a:r>
              <a:rPr lang="en-US" dirty="0" err="1"/>
              <a:t>Thực</a:t>
            </a:r>
            <a:r>
              <a:rPr lang="en-US" dirty="0"/>
              <a:t> </a:t>
            </a:r>
            <a:r>
              <a:rPr lang="en-US" dirty="0" err="1"/>
              <a:t>thế</a:t>
            </a:r>
            <a:r>
              <a:rPr lang="en-US" dirty="0"/>
              <a:t> </a:t>
            </a:r>
            <a:r>
              <a:rPr lang="en-US" dirty="0" err="1"/>
              <a:t>liên</a:t>
            </a:r>
            <a:r>
              <a:rPr lang="en-US" dirty="0"/>
              <a:t> </a:t>
            </a:r>
            <a:r>
              <a:rPr lang="en-US" dirty="0" err="1"/>
              <a:t>kết</a:t>
            </a:r>
            <a:r>
              <a:rPr dirty="0"/>
              <a:t>(ERD)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1600200"/>
            <a:ext cx="1056132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D3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987552" y="1783080"/>
            <a:ext cx="109728" cy="4160520"/>
          </a:xfrm>
          <a:prstGeom prst="rect">
            <a:avLst/>
          </a:prstGeom>
          <a:solidFill>
            <a:srgbClr val="0A8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07008" y="1828800"/>
            <a:ext cx="10012680" cy="38164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 b="0">
                <a:solidFill>
                  <a:srgbClr val="22262C"/>
                </a:solidFill>
                <a:latin typeface="Segoe UI"/>
              </a:defRPr>
            </a:pP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thực</a:t>
            </a:r>
            <a:r>
              <a:rPr lang="en-US" dirty="0"/>
              <a:t> </a:t>
            </a:r>
            <a:r>
              <a:rPr lang="en-US" dirty="0" err="1"/>
              <a:t>thể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thuộc</a:t>
            </a:r>
            <a:r>
              <a:rPr lang="en-US" dirty="0"/>
              <a:t> </a:t>
            </a:r>
            <a:r>
              <a:rPr lang="en-US" dirty="0" err="1"/>
              <a:t>tính</a:t>
            </a:r>
            <a:r>
              <a:rPr lang="en-US" dirty="0"/>
              <a:t>:</a:t>
            </a:r>
          </a:p>
          <a:p>
            <a:pPr marL="342900" indent="-342900">
              <a:spcAft>
                <a:spcPts val="1000"/>
              </a:spcAft>
              <a:buFontTx/>
              <a:buChar char="-"/>
              <a:defRPr sz="2400" b="0">
                <a:solidFill>
                  <a:srgbClr val="22262C"/>
                </a:solidFill>
                <a:latin typeface="Segoe UI"/>
              </a:defRPr>
            </a:pPr>
            <a:r>
              <a:rPr lang="en-US" dirty="0" err="1"/>
              <a:t>Nhân</a:t>
            </a:r>
            <a:r>
              <a:rPr lang="en-US" dirty="0"/>
              <a:t> </a:t>
            </a:r>
            <a:r>
              <a:rPr lang="en-US" dirty="0" err="1"/>
              <a:t>viên</a:t>
            </a:r>
            <a:r>
              <a:rPr lang="en-US" dirty="0"/>
              <a:t>: </a:t>
            </a:r>
            <a:r>
              <a:rPr lang="en-US" dirty="0" err="1"/>
              <a:t>Mã</a:t>
            </a:r>
            <a:r>
              <a:rPr lang="en-US" dirty="0"/>
              <a:t> </a:t>
            </a:r>
            <a:r>
              <a:rPr lang="en-US" dirty="0" err="1"/>
              <a:t>nhân</a:t>
            </a:r>
            <a:r>
              <a:rPr lang="en-US" dirty="0"/>
              <a:t> </a:t>
            </a:r>
            <a:r>
              <a:rPr lang="en-US" dirty="0" err="1"/>
              <a:t>viên</a:t>
            </a:r>
            <a:r>
              <a:rPr lang="en-US" dirty="0"/>
              <a:t>, </a:t>
            </a:r>
            <a:r>
              <a:rPr lang="en-US" dirty="0" err="1"/>
              <a:t>vai</a:t>
            </a:r>
            <a:r>
              <a:rPr lang="en-US" dirty="0"/>
              <a:t> </a:t>
            </a:r>
            <a:r>
              <a:rPr lang="en-US" dirty="0" err="1"/>
              <a:t>trò</a:t>
            </a:r>
            <a:r>
              <a:rPr lang="en-US" dirty="0"/>
              <a:t>, </a:t>
            </a:r>
            <a:r>
              <a:rPr lang="en-US" dirty="0" err="1"/>
              <a:t>tên</a:t>
            </a:r>
            <a:r>
              <a:rPr lang="en-US" dirty="0"/>
              <a:t> </a:t>
            </a:r>
            <a:r>
              <a:rPr lang="en-US" dirty="0" err="1"/>
              <a:t>đăng</a:t>
            </a:r>
            <a:r>
              <a:rPr lang="en-US" dirty="0"/>
              <a:t> </a:t>
            </a:r>
            <a:r>
              <a:rPr lang="en-US" dirty="0" err="1"/>
              <a:t>nhập</a:t>
            </a:r>
            <a:r>
              <a:rPr lang="en-US" dirty="0"/>
              <a:t>, </a:t>
            </a:r>
            <a:r>
              <a:rPr lang="en-US" dirty="0" err="1"/>
              <a:t>mật</a:t>
            </a:r>
            <a:r>
              <a:rPr lang="en-US" dirty="0"/>
              <a:t> </a:t>
            </a:r>
            <a:r>
              <a:rPr lang="en-US" dirty="0" err="1"/>
              <a:t>khẩu</a:t>
            </a:r>
            <a:endParaRPr lang="en-US" dirty="0"/>
          </a:p>
          <a:p>
            <a:pPr marL="342900" indent="-342900">
              <a:spcAft>
                <a:spcPts val="1000"/>
              </a:spcAft>
              <a:buFontTx/>
              <a:buChar char="-"/>
              <a:defRPr sz="2400" b="0">
                <a:solidFill>
                  <a:srgbClr val="22262C"/>
                </a:solidFill>
                <a:latin typeface="Segoe UI"/>
              </a:defRPr>
            </a:pPr>
            <a:r>
              <a:rPr lang="en-US" dirty="0" err="1"/>
              <a:t>Món</a:t>
            </a:r>
            <a:r>
              <a:rPr lang="en-US" dirty="0"/>
              <a:t> </a:t>
            </a:r>
            <a:r>
              <a:rPr lang="en-US" dirty="0" err="1"/>
              <a:t>ăn</a:t>
            </a:r>
            <a:r>
              <a:rPr lang="en-US" dirty="0"/>
              <a:t>: </a:t>
            </a:r>
            <a:r>
              <a:rPr lang="en-US" dirty="0" err="1"/>
              <a:t>Mã</a:t>
            </a:r>
            <a:r>
              <a:rPr lang="en-US" dirty="0"/>
              <a:t> </a:t>
            </a:r>
            <a:r>
              <a:rPr lang="en-US" dirty="0" err="1"/>
              <a:t>món</a:t>
            </a:r>
            <a:r>
              <a:rPr lang="en-US" dirty="0"/>
              <a:t>, </a:t>
            </a:r>
            <a:r>
              <a:rPr lang="en-US" dirty="0" err="1"/>
              <a:t>tên</a:t>
            </a:r>
            <a:r>
              <a:rPr lang="en-US" dirty="0"/>
              <a:t> </a:t>
            </a:r>
            <a:r>
              <a:rPr lang="en-US" dirty="0" err="1"/>
              <a:t>món</a:t>
            </a:r>
            <a:r>
              <a:rPr lang="en-US" dirty="0"/>
              <a:t>, </a:t>
            </a:r>
            <a:r>
              <a:rPr lang="en-US" dirty="0" err="1"/>
              <a:t>giá</a:t>
            </a:r>
            <a:endParaRPr lang="en-US" dirty="0"/>
          </a:p>
          <a:p>
            <a:pPr marL="342900" indent="-342900">
              <a:spcAft>
                <a:spcPts val="1000"/>
              </a:spcAft>
              <a:buFontTx/>
              <a:buChar char="-"/>
              <a:defRPr sz="2400" b="0">
                <a:solidFill>
                  <a:srgbClr val="22262C"/>
                </a:solidFill>
                <a:latin typeface="Segoe UI"/>
              </a:defRPr>
            </a:pPr>
            <a:r>
              <a:rPr lang="en-US" dirty="0" err="1"/>
              <a:t>Hóa</a:t>
            </a:r>
            <a:r>
              <a:rPr lang="en-US" dirty="0"/>
              <a:t> </a:t>
            </a:r>
            <a:r>
              <a:rPr lang="en-US" dirty="0" err="1"/>
              <a:t>đơn</a:t>
            </a:r>
            <a:r>
              <a:rPr lang="en-US" dirty="0"/>
              <a:t>: </a:t>
            </a:r>
            <a:r>
              <a:rPr lang="en-US" dirty="0" err="1"/>
              <a:t>Mã</a:t>
            </a:r>
            <a:r>
              <a:rPr lang="en-US" dirty="0"/>
              <a:t> </a:t>
            </a:r>
            <a:r>
              <a:rPr lang="en-US" dirty="0" err="1"/>
              <a:t>hóa</a:t>
            </a:r>
            <a:r>
              <a:rPr lang="en-US" dirty="0"/>
              <a:t> </a:t>
            </a:r>
            <a:r>
              <a:rPr lang="en-US" dirty="0" err="1"/>
              <a:t>đơn</a:t>
            </a:r>
            <a:r>
              <a:rPr lang="en-US" dirty="0"/>
              <a:t>, </a:t>
            </a:r>
            <a:r>
              <a:rPr lang="en-US" dirty="0" err="1"/>
              <a:t>tạm</a:t>
            </a:r>
            <a:r>
              <a:rPr lang="en-US" dirty="0"/>
              <a:t> </a:t>
            </a:r>
            <a:r>
              <a:rPr lang="en-US" dirty="0" err="1"/>
              <a:t>tính</a:t>
            </a:r>
            <a:r>
              <a:rPr lang="en-US" dirty="0"/>
              <a:t>, </a:t>
            </a:r>
            <a:r>
              <a:rPr lang="en-US" dirty="0" err="1"/>
              <a:t>giảm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, </a:t>
            </a:r>
            <a:r>
              <a:rPr lang="en-US" dirty="0" err="1"/>
              <a:t>thành</a:t>
            </a:r>
            <a:r>
              <a:rPr lang="en-US" dirty="0"/>
              <a:t> </a:t>
            </a:r>
            <a:r>
              <a:rPr lang="en-US" dirty="0" err="1"/>
              <a:t>tiền</a:t>
            </a:r>
            <a:r>
              <a:rPr lang="en-US" dirty="0"/>
              <a:t>, </a:t>
            </a:r>
            <a:r>
              <a:rPr lang="en-US" dirty="0" err="1"/>
              <a:t>thời</a:t>
            </a:r>
            <a:r>
              <a:rPr lang="en-US" dirty="0"/>
              <a:t> </a:t>
            </a:r>
            <a:r>
              <a:rPr lang="en-US" dirty="0" err="1"/>
              <a:t>gian</a:t>
            </a:r>
            <a:r>
              <a:rPr lang="en-US" dirty="0"/>
              <a:t> </a:t>
            </a:r>
            <a:r>
              <a:rPr lang="en-US" dirty="0" err="1"/>
              <a:t>tạo</a:t>
            </a:r>
            <a:endParaRPr lang="en-US" dirty="0"/>
          </a:p>
          <a:p>
            <a:pPr marL="342900" indent="-342900">
              <a:spcAft>
                <a:spcPts val="1000"/>
              </a:spcAft>
              <a:buFontTx/>
              <a:buChar char="-"/>
              <a:defRPr sz="2400" b="0">
                <a:solidFill>
                  <a:srgbClr val="22262C"/>
                </a:solidFill>
                <a:latin typeface="Segoe UI"/>
              </a:defRPr>
            </a:pPr>
            <a:r>
              <a:rPr lang="en-US" dirty="0" err="1"/>
              <a:t>Đơn</a:t>
            </a:r>
            <a:r>
              <a:rPr lang="en-US" dirty="0"/>
              <a:t> </a:t>
            </a:r>
            <a:r>
              <a:rPr lang="en-US" dirty="0" err="1"/>
              <a:t>hàng</a:t>
            </a:r>
            <a:r>
              <a:rPr lang="en-US" dirty="0"/>
              <a:t>: </a:t>
            </a:r>
            <a:r>
              <a:rPr lang="en-US" dirty="0" err="1"/>
              <a:t>Mã</a:t>
            </a:r>
            <a:r>
              <a:rPr lang="en-US" dirty="0"/>
              <a:t> </a:t>
            </a:r>
            <a:r>
              <a:rPr lang="en-US" dirty="0" err="1"/>
              <a:t>đơn</a:t>
            </a:r>
            <a:r>
              <a:rPr lang="en-US" dirty="0"/>
              <a:t> </a:t>
            </a:r>
            <a:r>
              <a:rPr lang="en-US" dirty="0" err="1"/>
              <a:t>hàng</a:t>
            </a:r>
            <a:r>
              <a:rPr lang="en-US" dirty="0"/>
              <a:t>, </a:t>
            </a:r>
            <a:r>
              <a:rPr lang="en-US" dirty="0" err="1"/>
              <a:t>tên</a:t>
            </a:r>
            <a:r>
              <a:rPr lang="en-US" dirty="0"/>
              <a:t> </a:t>
            </a:r>
            <a:r>
              <a:rPr lang="en-US" dirty="0" err="1"/>
              <a:t>món</a:t>
            </a:r>
            <a:r>
              <a:rPr lang="en-US" dirty="0"/>
              <a:t>, </a:t>
            </a:r>
            <a:r>
              <a:rPr lang="en-US" dirty="0" err="1"/>
              <a:t>số</a:t>
            </a:r>
            <a:r>
              <a:rPr lang="en-US" dirty="0"/>
              <a:t> </a:t>
            </a:r>
            <a:r>
              <a:rPr lang="en-US" dirty="0" err="1"/>
              <a:t>lượng</a:t>
            </a:r>
            <a:r>
              <a:rPr lang="en-US" dirty="0"/>
              <a:t>, </a:t>
            </a:r>
            <a:r>
              <a:rPr lang="en-US" dirty="0" err="1"/>
              <a:t>đơn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, </a:t>
            </a:r>
            <a:r>
              <a:rPr lang="en-US" dirty="0" err="1"/>
              <a:t>trạng</a:t>
            </a:r>
            <a:r>
              <a:rPr lang="en-US" dirty="0"/>
              <a:t> </a:t>
            </a:r>
            <a:r>
              <a:rPr lang="en-US" dirty="0" err="1"/>
              <a:t>thái</a:t>
            </a:r>
            <a:r>
              <a:rPr lang="en-US" dirty="0"/>
              <a:t>, </a:t>
            </a:r>
            <a:r>
              <a:rPr lang="en-US" dirty="0" err="1"/>
              <a:t>thời</a:t>
            </a:r>
            <a:r>
              <a:rPr lang="en-US" dirty="0"/>
              <a:t> </a:t>
            </a:r>
            <a:r>
              <a:rPr lang="en-US" dirty="0" err="1"/>
              <a:t>gian</a:t>
            </a:r>
            <a:r>
              <a:rPr lang="en-US" dirty="0"/>
              <a:t> </a:t>
            </a:r>
            <a:r>
              <a:rPr lang="en-US" dirty="0" err="1"/>
              <a:t>tạo</a:t>
            </a:r>
            <a:endParaRPr lang="en-US" dirty="0"/>
          </a:p>
          <a:p>
            <a:pPr marL="342900" indent="-342900">
              <a:spcAft>
                <a:spcPts val="1000"/>
              </a:spcAft>
              <a:buFontTx/>
              <a:buChar char="-"/>
              <a:defRPr sz="2400" b="0">
                <a:solidFill>
                  <a:srgbClr val="22262C"/>
                </a:solidFill>
                <a:latin typeface="Segoe UI"/>
              </a:defRPr>
            </a:pPr>
            <a:r>
              <a:rPr lang="en-US" dirty="0" err="1"/>
              <a:t>Nguyên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: </a:t>
            </a:r>
            <a:r>
              <a:rPr lang="en-US" dirty="0" err="1"/>
              <a:t>Mã</a:t>
            </a:r>
            <a:r>
              <a:rPr lang="en-US" dirty="0"/>
              <a:t> </a:t>
            </a:r>
            <a:r>
              <a:rPr lang="en-US" dirty="0" err="1"/>
              <a:t>nguyên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, </a:t>
            </a:r>
            <a:r>
              <a:rPr lang="en-US" dirty="0" err="1"/>
              <a:t>tên</a:t>
            </a:r>
            <a:r>
              <a:rPr lang="en-US" dirty="0"/>
              <a:t> </a:t>
            </a:r>
            <a:r>
              <a:rPr lang="en-US" dirty="0" err="1"/>
              <a:t>nguyên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, </a:t>
            </a:r>
            <a:r>
              <a:rPr lang="en-US" dirty="0" err="1"/>
              <a:t>số</a:t>
            </a:r>
            <a:r>
              <a:rPr lang="en-US" dirty="0"/>
              <a:t> </a:t>
            </a:r>
            <a:r>
              <a:rPr lang="en-US" dirty="0" err="1"/>
              <a:t>lượng</a:t>
            </a:r>
            <a:r>
              <a:rPr lang="en-US" dirty="0"/>
              <a:t> </a:t>
            </a:r>
            <a:r>
              <a:rPr lang="en-US" dirty="0" err="1"/>
              <a:t>tồn</a:t>
            </a:r>
            <a:r>
              <a:rPr lang="en-US" dirty="0"/>
              <a:t>, </a:t>
            </a:r>
            <a:r>
              <a:rPr lang="en-US" dirty="0" err="1"/>
              <a:t>đơn</a:t>
            </a:r>
            <a:r>
              <a:rPr lang="en-US" dirty="0"/>
              <a:t> </a:t>
            </a:r>
            <a:r>
              <a:rPr lang="en-US" dirty="0" err="1"/>
              <a:t>vị</a:t>
            </a:r>
            <a:endParaRPr lang="en-US" dirty="0"/>
          </a:p>
          <a:p>
            <a:pPr marL="342900" indent="-342900">
              <a:spcAft>
                <a:spcPts val="1000"/>
              </a:spcAft>
              <a:buFontTx/>
              <a:buChar char="-"/>
              <a:defRPr sz="2400" b="0">
                <a:solidFill>
                  <a:srgbClr val="22262C"/>
                </a:solidFill>
                <a:latin typeface="Segoe UI"/>
              </a:defRPr>
            </a:pPr>
            <a:r>
              <a:rPr lang="en-US" dirty="0" err="1"/>
              <a:t>Bàn</a:t>
            </a:r>
            <a:r>
              <a:rPr lang="en-US" dirty="0"/>
              <a:t> </a:t>
            </a:r>
            <a:r>
              <a:rPr lang="en-US" dirty="0" err="1"/>
              <a:t>ăn</a:t>
            </a:r>
            <a:r>
              <a:rPr lang="en-US" dirty="0"/>
              <a:t>: </a:t>
            </a:r>
            <a:r>
              <a:rPr lang="en-US" dirty="0" err="1"/>
              <a:t>Mã</a:t>
            </a:r>
            <a:r>
              <a:rPr lang="en-US" dirty="0"/>
              <a:t> </a:t>
            </a:r>
            <a:r>
              <a:rPr lang="en-US" dirty="0" err="1"/>
              <a:t>bàn</a:t>
            </a:r>
            <a:r>
              <a:rPr lang="en-US" dirty="0"/>
              <a:t>, </a:t>
            </a:r>
            <a:r>
              <a:rPr lang="en-US" dirty="0" err="1"/>
              <a:t>tên</a:t>
            </a:r>
            <a:r>
              <a:rPr lang="en-US" dirty="0"/>
              <a:t> </a:t>
            </a:r>
            <a:r>
              <a:rPr lang="en-US" dirty="0" err="1"/>
              <a:t>bàn</a:t>
            </a:r>
            <a:r>
              <a:rPr lang="en-US" dirty="0"/>
              <a:t>, </a:t>
            </a:r>
            <a:r>
              <a:rPr lang="en-US" dirty="0" err="1"/>
              <a:t>trạng</a:t>
            </a:r>
            <a:r>
              <a:rPr lang="en-US" dirty="0"/>
              <a:t> </a:t>
            </a:r>
            <a:r>
              <a:rPr lang="en-US" dirty="0" err="1"/>
              <a:t>thái</a:t>
            </a:r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21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84048" y="0"/>
            <a:ext cx="11807647" cy="146304"/>
          </a:xfrm>
          <a:prstGeom prst="rect">
            <a:avLst/>
          </a:prstGeom>
          <a:solidFill>
            <a:srgbClr val="0A8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018520" y="256032"/>
            <a:ext cx="310896" cy="310896"/>
          </a:xfrm>
          <a:prstGeom prst="ellipse">
            <a:avLst/>
          </a:prstGeom>
          <a:solidFill>
            <a:srgbClr val="E99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384280" y="347472"/>
            <a:ext cx="182880" cy="182880"/>
          </a:xfrm>
          <a:prstGeom prst="ellipse">
            <a:avLst/>
          </a:prstGeom>
          <a:solidFill>
            <a:srgbClr val="0A8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464040" y="219456"/>
            <a:ext cx="1371600" cy="402336"/>
          </a:xfrm>
          <a:prstGeom prst="roundRect">
            <a:avLst/>
          </a:prstGeom>
          <a:solidFill>
            <a:srgbClr val="21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USE CASE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55080"/>
            <a:ext cx="10881360" cy="18288"/>
          </a:xfrm>
          <a:prstGeom prst="rect">
            <a:avLst/>
          </a:prstGeom>
          <a:solidFill>
            <a:srgbClr val="D3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6400800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585F6A"/>
                </a:solidFill>
                <a:latin typeface="Segoe UI"/>
              </a:defRPr>
            </a:pPr>
            <a:r>
              <a:t>Đề tài: Hệ thống quản lý nhà hàng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57200"/>
            <a:ext cx="877824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700" b="1">
                <a:solidFill>
                  <a:srgbClr val="213A5A"/>
                </a:solidFill>
                <a:latin typeface="Segoe UI"/>
              </a:defRPr>
            </a:pPr>
            <a:r>
              <a:t>Use Case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07592"/>
            <a:ext cx="9601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585F6A"/>
                </a:solidFill>
                <a:latin typeface="Segoe UI"/>
              </a:defRPr>
            </a:pPr>
            <a:r>
              <a:t>Trang để trống theo yêu cầu báo cáo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1737360"/>
            <a:ext cx="105613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D3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143000" y="3429000"/>
            <a:ext cx="99669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585F6A"/>
                </a:solidFill>
                <a:latin typeface="Segoe UI"/>
              </a:defRPr>
            </a:pPr>
            <a:r>
              <a:t>Để trống: chèn biểu đồ use case tại đây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21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84048" y="0"/>
            <a:ext cx="11807647" cy="146304"/>
          </a:xfrm>
          <a:prstGeom prst="rect">
            <a:avLst/>
          </a:prstGeom>
          <a:solidFill>
            <a:srgbClr val="0A8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018520" y="256032"/>
            <a:ext cx="310896" cy="310896"/>
          </a:xfrm>
          <a:prstGeom prst="ellipse">
            <a:avLst/>
          </a:prstGeom>
          <a:solidFill>
            <a:srgbClr val="E99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384280" y="347472"/>
            <a:ext cx="182880" cy="182880"/>
          </a:xfrm>
          <a:prstGeom prst="ellipse">
            <a:avLst/>
          </a:prstGeom>
          <a:solidFill>
            <a:srgbClr val="0A8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464040" y="219456"/>
            <a:ext cx="1371600" cy="402336"/>
          </a:xfrm>
          <a:prstGeom prst="roundRect">
            <a:avLst/>
          </a:prstGeom>
          <a:solidFill>
            <a:srgbClr val="21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BPCN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55080"/>
            <a:ext cx="10881360" cy="18288"/>
          </a:xfrm>
          <a:prstGeom prst="rect">
            <a:avLst/>
          </a:prstGeom>
          <a:solidFill>
            <a:srgbClr val="D3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6400800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585F6A"/>
                </a:solidFill>
                <a:latin typeface="Segoe UI"/>
              </a:defRPr>
            </a:pPr>
            <a:r>
              <a:t>Đề tài: Hệ thống quản lý nhà hàng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57200"/>
            <a:ext cx="877824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700" b="1">
                <a:solidFill>
                  <a:srgbClr val="213A5A"/>
                </a:solidFill>
                <a:latin typeface="Segoe UI"/>
              </a:defRPr>
            </a:pPr>
            <a:r>
              <a:t>Biểu đồ phân cấp chức năng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1600200"/>
            <a:ext cx="1056132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D3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987552" y="1783080"/>
            <a:ext cx="109728" cy="4160520"/>
          </a:xfrm>
          <a:prstGeom prst="rect">
            <a:avLst/>
          </a:prstGeom>
          <a:solidFill>
            <a:srgbClr val="0A8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07008" y="1828800"/>
            <a:ext cx="10012680" cy="23237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 b="0">
                <a:solidFill>
                  <a:srgbClr val="22262C"/>
                </a:solidFill>
                <a:latin typeface="Segoe UI"/>
              </a:defRPr>
            </a:pPr>
            <a:r>
              <a:rPr dirty="0"/>
              <a:t>- </a:t>
            </a:r>
            <a:r>
              <a:rPr dirty="0" err="1"/>
              <a:t>Mức</a:t>
            </a:r>
            <a:r>
              <a:rPr dirty="0"/>
              <a:t> 0: </a:t>
            </a:r>
            <a:r>
              <a:rPr dirty="0" err="1"/>
              <a:t>Hệ</a:t>
            </a:r>
            <a:r>
              <a:rPr dirty="0"/>
              <a:t> </a:t>
            </a:r>
            <a:r>
              <a:rPr dirty="0" err="1"/>
              <a:t>thống</a:t>
            </a:r>
            <a:r>
              <a:rPr dirty="0"/>
              <a:t> </a:t>
            </a:r>
            <a:r>
              <a:rPr dirty="0" err="1"/>
              <a:t>quản</a:t>
            </a:r>
            <a:r>
              <a:rPr dirty="0"/>
              <a:t> </a:t>
            </a:r>
            <a:r>
              <a:rPr dirty="0" err="1"/>
              <a:t>lý</a:t>
            </a:r>
            <a:r>
              <a:rPr dirty="0"/>
              <a:t> </a:t>
            </a:r>
            <a:r>
              <a:rPr dirty="0" err="1"/>
              <a:t>nhà</a:t>
            </a:r>
            <a:r>
              <a:rPr dirty="0"/>
              <a:t> </a:t>
            </a:r>
            <a:r>
              <a:rPr dirty="0" err="1"/>
              <a:t>hàng</a:t>
            </a:r>
            <a:r>
              <a:rPr dirty="0"/>
              <a:t>.</a:t>
            </a:r>
          </a:p>
          <a:p>
            <a:pPr>
              <a:spcAft>
                <a:spcPts val="1000"/>
              </a:spcAft>
              <a:defRPr sz="2400" b="0">
                <a:solidFill>
                  <a:srgbClr val="22262C"/>
                </a:solidFill>
                <a:latin typeface="Segoe UI"/>
              </a:defRPr>
            </a:pPr>
            <a:r>
              <a:rPr dirty="0"/>
              <a:t>- </a:t>
            </a:r>
            <a:r>
              <a:rPr dirty="0" err="1"/>
              <a:t>Mức</a:t>
            </a:r>
            <a:r>
              <a:rPr dirty="0"/>
              <a:t> 1: </a:t>
            </a:r>
            <a:r>
              <a:rPr lang="en-US" dirty="0" err="1"/>
              <a:t>Quản</a:t>
            </a:r>
            <a:r>
              <a:rPr lang="en-US" dirty="0"/>
              <a:t> </a:t>
            </a:r>
            <a:r>
              <a:rPr lang="en-US" dirty="0" err="1"/>
              <a:t>lý</a:t>
            </a:r>
            <a:r>
              <a:rPr lang="en-US" dirty="0"/>
              <a:t> </a:t>
            </a:r>
            <a:r>
              <a:rPr lang="en-US" dirty="0" err="1"/>
              <a:t>t</a:t>
            </a:r>
            <a:r>
              <a:rPr dirty="0" err="1"/>
              <a:t>ài</a:t>
            </a:r>
            <a:r>
              <a:rPr dirty="0"/>
              <a:t> </a:t>
            </a:r>
            <a:r>
              <a:rPr dirty="0" err="1"/>
              <a:t>khoản</a:t>
            </a:r>
            <a:r>
              <a:rPr dirty="0"/>
              <a:t> | </a:t>
            </a:r>
            <a:r>
              <a:rPr lang="en-US" dirty="0" err="1"/>
              <a:t>Quản</a:t>
            </a:r>
            <a:r>
              <a:rPr lang="en-US" dirty="0"/>
              <a:t> </a:t>
            </a:r>
            <a:r>
              <a:rPr lang="en-US" dirty="0" err="1"/>
              <a:t>lý</a:t>
            </a:r>
            <a:r>
              <a:rPr lang="en-US" dirty="0"/>
              <a:t> </a:t>
            </a:r>
            <a:r>
              <a:rPr lang="en-US" dirty="0" err="1"/>
              <a:t>b</a:t>
            </a:r>
            <a:r>
              <a:rPr dirty="0" err="1"/>
              <a:t>àn</a:t>
            </a:r>
            <a:r>
              <a:rPr dirty="0"/>
              <a:t> &amp; </a:t>
            </a:r>
            <a:r>
              <a:rPr dirty="0" err="1"/>
              <a:t>phục</a:t>
            </a:r>
            <a:r>
              <a:rPr dirty="0"/>
              <a:t> </a:t>
            </a:r>
            <a:r>
              <a:rPr dirty="0" err="1"/>
              <a:t>vụ</a:t>
            </a:r>
            <a:r>
              <a:rPr dirty="0"/>
              <a:t> | </a:t>
            </a:r>
            <a:r>
              <a:rPr lang="en-US" dirty="0" err="1"/>
              <a:t>Quản</a:t>
            </a:r>
            <a:r>
              <a:rPr lang="en-US" dirty="0"/>
              <a:t> </a:t>
            </a:r>
            <a:r>
              <a:rPr lang="en-US" dirty="0" err="1"/>
              <a:t>lý</a:t>
            </a:r>
            <a:r>
              <a:rPr lang="en-US" dirty="0"/>
              <a:t> </a:t>
            </a:r>
            <a:r>
              <a:rPr dirty="0" err="1"/>
              <a:t>Bếp</a:t>
            </a:r>
            <a:r>
              <a:rPr dirty="0"/>
              <a:t> | Thanh </a:t>
            </a:r>
            <a:r>
              <a:rPr dirty="0" err="1"/>
              <a:t>toán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hóa</a:t>
            </a:r>
            <a:r>
              <a:rPr lang="en-US" dirty="0"/>
              <a:t> </a:t>
            </a:r>
            <a:r>
              <a:rPr lang="en-US" dirty="0" err="1"/>
              <a:t>đơn</a:t>
            </a:r>
            <a:r>
              <a:rPr dirty="0"/>
              <a:t> | </a:t>
            </a:r>
            <a:r>
              <a:rPr lang="en-US" dirty="0" err="1"/>
              <a:t>Quản</a:t>
            </a:r>
            <a:r>
              <a:rPr lang="en-US" dirty="0"/>
              <a:t> </a:t>
            </a:r>
            <a:r>
              <a:rPr lang="en-US" dirty="0" err="1"/>
              <a:t>lý</a:t>
            </a:r>
            <a:r>
              <a:rPr lang="en-US" dirty="0"/>
              <a:t> </a:t>
            </a:r>
            <a:r>
              <a:rPr lang="en-US" dirty="0" err="1"/>
              <a:t>k</a:t>
            </a:r>
            <a:r>
              <a:rPr dirty="0" err="1"/>
              <a:t>ho</a:t>
            </a:r>
            <a:r>
              <a:rPr dirty="0"/>
              <a:t> </a:t>
            </a:r>
            <a:r>
              <a:rPr lang="en-US" dirty="0" err="1"/>
              <a:t>nguyên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 </a:t>
            </a:r>
            <a:r>
              <a:rPr dirty="0"/>
              <a:t>| </a:t>
            </a:r>
            <a:r>
              <a:rPr dirty="0" err="1"/>
              <a:t>Báo</a:t>
            </a:r>
            <a:r>
              <a:rPr dirty="0"/>
              <a:t> </a:t>
            </a:r>
            <a:r>
              <a:rPr dirty="0" err="1"/>
              <a:t>cáo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thống</a:t>
            </a:r>
            <a:r>
              <a:rPr lang="en-US" dirty="0"/>
              <a:t> </a:t>
            </a:r>
            <a:r>
              <a:rPr lang="en-US" dirty="0" err="1"/>
              <a:t>kê</a:t>
            </a:r>
            <a:r>
              <a:rPr lang="en-US" dirty="0"/>
              <a:t>.</a:t>
            </a:r>
            <a:endParaRPr dirty="0"/>
          </a:p>
          <a:p>
            <a:pPr>
              <a:spcAft>
                <a:spcPts val="1000"/>
              </a:spcAft>
              <a:defRPr sz="2400" b="0">
                <a:solidFill>
                  <a:srgbClr val="22262C"/>
                </a:solidFill>
                <a:latin typeface="Segoe UI"/>
              </a:defRPr>
            </a:pPr>
            <a:r>
              <a:rPr dirty="0"/>
              <a:t>- </a:t>
            </a:r>
            <a:r>
              <a:rPr dirty="0" err="1"/>
              <a:t>Mức</a:t>
            </a:r>
            <a:r>
              <a:rPr dirty="0"/>
              <a:t> 2: </a:t>
            </a:r>
            <a:r>
              <a:rPr dirty="0" err="1"/>
              <a:t>Các</a:t>
            </a:r>
            <a:r>
              <a:rPr dirty="0"/>
              <a:t> </a:t>
            </a:r>
            <a:r>
              <a:rPr dirty="0" err="1"/>
              <a:t>chức</a:t>
            </a:r>
            <a:r>
              <a:rPr dirty="0"/>
              <a:t> </a:t>
            </a:r>
            <a:r>
              <a:rPr dirty="0" err="1"/>
              <a:t>năng</a:t>
            </a:r>
            <a:r>
              <a:rPr dirty="0"/>
              <a:t> chi </a:t>
            </a:r>
            <a:r>
              <a:rPr dirty="0" err="1"/>
              <a:t>tiết</a:t>
            </a:r>
            <a:r>
              <a:rPr dirty="0"/>
              <a:t> </a:t>
            </a:r>
            <a:r>
              <a:rPr dirty="0" err="1"/>
              <a:t>trong</a:t>
            </a:r>
            <a:r>
              <a:rPr dirty="0"/>
              <a:t> </a:t>
            </a:r>
            <a:r>
              <a:rPr dirty="0" err="1"/>
              <a:t>từng</a:t>
            </a:r>
            <a:r>
              <a:rPr dirty="0"/>
              <a:t> </a:t>
            </a:r>
            <a:r>
              <a:rPr dirty="0" err="1"/>
              <a:t>phân</a:t>
            </a:r>
            <a:r>
              <a:rPr dirty="0"/>
              <a:t> </a:t>
            </a:r>
            <a:r>
              <a:rPr dirty="0" err="1"/>
              <a:t>hệ</a:t>
            </a:r>
            <a:r>
              <a:rPr dirty="0"/>
              <a:t>.</a:t>
            </a:r>
          </a:p>
          <a:p>
            <a:pPr>
              <a:spcAft>
                <a:spcPts val="1000"/>
              </a:spcAft>
              <a:defRPr sz="2400" b="0">
                <a:solidFill>
                  <a:srgbClr val="22262C"/>
                </a:solidFill>
                <a:latin typeface="Segoe UI"/>
              </a:defRPr>
            </a:pPr>
            <a:r>
              <a:rPr dirty="0"/>
              <a:t>- </a:t>
            </a:r>
            <a:r>
              <a:rPr dirty="0" err="1"/>
              <a:t>Mô</a:t>
            </a:r>
            <a:r>
              <a:rPr dirty="0"/>
              <a:t> </a:t>
            </a:r>
            <a:r>
              <a:rPr dirty="0" err="1"/>
              <a:t>hình</a:t>
            </a:r>
            <a:r>
              <a:rPr dirty="0"/>
              <a:t> </a:t>
            </a:r>
            <a:r>
              <a:rPr dirty="0" err="1"/>
              <a:t>giúp</a:t>
            </a:r>
            <a:r>
              <a:rPr dirty="0"/>
              <a:t> </a:t>
            </a:r>
            <a:r>
              <a:rPr dirty="0" err="1"/>
              <a:t>chuẩn</a:t>
            </a:r>
            <a:r>
              <a:rPr dirty="0"/>
              <a:t> </a:t>
            </a:r>
            <a:r>
              <a:rPr dirty="0" err="1"/>
              <a:t>hóa</a:t>
            </a:r>
            <a:r>
              <a:rPr dirty="0"/>
              <a:t> </a:t>
            </a:r>
            <a:r>
              <a:rPr dirty="0" err="1"/>
              <a:t>phạm</a:t>
            </a:r>
            <a:r>
              <a:rPr dirty="0"/>
              <a:t> vi </a:t>
            </a:r>
            <a:r>
              <a:rPr dirty="0" err="1"/>
              <a:t>và</a:t>
            </a:r>
            <a:r>
              <a:rPr dirty="0"/>
              <a:t> </a:t>
            </a:r>
            <a:r>
              <a:rPr dirty="0" err="1"/>
              <a:t>luồng</a:t>
            </a:r>
            <a:r>
              <a:rPr dirty="0"/>
              <a:t> </a:t>
            </a:r>
            <a:r>
              <a:rPr dirty="0" err="1"/>
              <a:t>triển</a:t>
            </a:r>
            <a:r>
              <a:rPr dirty="0"/>
              <a:t> </a:t>
            </a:r>
            <a:r>
              <a:rPr dirty="0" err="1"/>
              <a:t>khai</a:t>
            </a:r>
            <a:r>
              <a:rPr dirty="0"/>
              <a:t> </a:t>
            </a:r>
            <a:r>
              <a:rPr dirty="0" err="1"/>
              <a:t>phần</a:t>
            </a:r>
            <a:r>
              <a:rPr dirty="0"/>
              <a:t> </a:t>
            </a:r>
            <a:r>
              <a:rPr dirty="0" err="1"/>
              <a:t>mềm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21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84048" y="0"/>
            <a:ext cx="11807647" cy="146304"/>
          </a:xfrm>
          <a:prstGeom prst="rect">
            <a:avLst/>
          </a:prstGeom>
          <a:solidFill>
            <a:srgbClr val="0A8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018520" y="256032"/>
            <a:ext cx="310896" cy="310896"/>
          </a:xfrm>
          <a:prstGeom prst="ellipse">
            <a:avLst/>
          </a:prstGeom>
          <a:solidFill>
            <a:srgbClr val="E99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384280" y="347472"/>
            <a:ext cx="182880" cy="182880"/>
          </a:xfrm>
          <a:prstGeom prst="ellipse">
            <a:avLst/>
          </a:prstGeom>
          <a:solidFill>
            <a:srgbClr val="0A8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464040" y="219456"/>
            <a:ext cx="1371600" cy="402336"/>
          </a:xfrm>
          <a:prstGeom prst="roundRect">
            <a:avLst/>
          </a:prstGeom>
          <a:solidFill>
            <a:srgbClr val="21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QUY TRÌNH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55080"/>
            <a:ext cx="10881360" cy="18288"/>
          </a:xfrm>
          <a:prstGeom prst="rect">
            <a:avLst/>
          </a:prstGeom>
          <a:solidFill>
            <a:srgbClr val="D3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6400800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585F6A"/>
                </a:solidFill>
                <a:latin typeface="Segoe UI"/>
              </a:defRPr>
            </a:pPr>
            <a:r>
              <a:t>Đề tài: Hệ thống quản lý nhà hàng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57200"/>
            <a:ext cx="877824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700" b="1">
                <a:solidFill>
                  <a:srgbClr val="213A5A"/>
                </a:solidFill>
                <a:latin typeface="Segoe UI"/>
              </a:defRPr>
            </a:pPr>
            <a:r>
              <a:t>Quy trình nghiệp vụ chính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07592"/>
            <a:ext cx="9601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585F6A"/>
                </a:solidFill>
                <a:latin typeface="Segoe UI"/>
              </a:defRPr>
            </a:pPr>
            <a:r>
              <a:t>Luồng dữ liệu từ order tới doanh thu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2514600"/>
            <a:ext cx="182880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D3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2500"/>
              </a:spcBef>
              <a:defRPr sz="1700" b="1">
                <a:solidFill>
                  <a:srgbClr val="22262C"/>
                </a:solidFill>
                <a:latin typeface="Segoe UI"/>
              </a:defRPr>
            </a:pPr>
            <a:r>
              <a:t>Phục vụ</a:t>
            </a:r>
            <a:br/>
            <a:r>
              <a:t>nhận order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2514600"/>
            <a:ext cx="1828800" cy="256032"/>
          </a:xfrm>
          <a:prstGeom prst="rect">
            <a:avLst/>
          </a:prstGeom>
          <a:solidFill>
            <a:srgbClr val="21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1627632" y="4434840"/>
            <a:ext cx="411480" cy="411480"/>
          </a:xfrm>
          <a:prstGeom prst="ellipse">
            <a:avLst/>
          </a:prstGeom>
          <a:solidFill>
            <a:srgbClr val="E99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1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743200" y="3406140"/>
            <a:ext cx="301752" cy="0"/>
          </a:xfrm>
          <a:prstGeom prst="line">
            <a:avLst/>
          </a:prstGeom>
          <a:ln w="30480">
            <a:solidFill>
              <a:srgbClr val="E99D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044952" y="2514600"/>
            <a:ext cx="182880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D3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2500"/>
              </a:spcBef>
              <a:defRPr sz="1700" b="1">
                <a:solidFill>
                  <a:srgbClr val="22262C"/>
                </a:solidFill>
                <a:latin typeface="Segoe UI"/>
              </a:defRPr>
            </a:pPr>
            <a:r>
              <a:t>Gửi bếp</a:t>
            </a:r>
            <a:br/>
            <a:r>
              <a:t>chế biến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44952" y="2514600"/>
            <a:ext cx="1828800" cy="256032"/>
          </a:xfrm>
          <a:prstGeom prst="rect">
            <a:avLst/>
          </a:prstGeom>
          <a:solidFill>
            <a:srgbClr val="0A8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3758184" y="4434840"/>
            <a:ext cx="411480" cy="411480"/>
          </a:xfrm>
          <a:prstGeom prst="ellipse">
            <a:avLst/>
          </a:prstGeom>
          <a:solidFill>
            <a:srgbClr val="E99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2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873752" y="3406140"/>
            <a:ext cx="301752" cy="0"/>
          </a:xfrm>
          <a:prstGeom prst="line">
            <a:avLst/>
          </a:prstGeom>
          <a:ln w="30480">
            <a:solidFill>
              <a:srgbClr val="E99D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175504" y="2514600"/>
            <a:ext cx="182880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D3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2500"/>
              </a:spcBef>
              <a:defRPr sz="1700" b="1">
                <a:solidFill>
                  <a:srgbClr val="22262C"/>
                </a:solidFill>
                <a:latin typeface="Segoe UI"/>
              </a:defRPr>
            </a:pPr>
            <a:r>
              <a:t>Bếp hoàn tất</a:t>
            </a:r>
            <a:br/>
            <a:r>
              <a:t>trừ kho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75504" y="2514600"/>
            <a:ext cx="1828800" cy="256032"/>
          </a:xfrm>
          <a:prstGeom prst="rect">
            <a:avLst/>
          </a:prstGeom>
          <a:solidFill>
            <a:srgbClr val="21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5888736" y="4434840"/>
            <a:ext cx="411480" cy="411480"/>
          </a:xfrm>
          <a:prstGeom prst="ellipse">
            <a:avLst/>
          </a:prstGeom>
          <a:solidFill>
            <a:srgbClr val="E99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3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004304" y="3406140"/>
            <a:ext cx="301752" cy="0"/>
          </a:xfrm>
          <a:prstGeom prst="line">
            <a:avLst/>
          </a:prstGeom>
          <a:ln w="30480">
            <a:solidFill>
              <a:srgbClr val="E99D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306056" y="2514600"/>
            <a:ext cx="182880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D3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2500"/>
              </a:spcBef>
              <a:defRPr sz="1700" b="1">
                <a:solidFill>
                  <a:srgbClr val="22262C"/>
                </a:solidFill>
                <a:latin typeface="Segoe UI"/>
              </a:defRPr>
            </a:pPr>
            <a:r>
              <a:t>Thu ngân</a:t>
            </a:r>
            <a:br/>
            <a:r>
              <a:t>thanh toán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06056" y="2514600"/>
            <a:ext cx="1828800" cy="256032"/>
          </a:xfrm>
          <a:prstGeom prst="rect">
            <a:avLst/>
          </a:prstGeom>
          <a:solidFill>
            <a:srgbClr val="0A8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8019288" y="4434840"/>
            <a:ext cx="411480" cy="411480"/>
          </a:xfrm>
          <a:prstGeom prst="ellipse">
            <a:avLst/>
          </a:prstGeom>
          <a:solidFill>
            <a:srgbClr val="E99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4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134856" y="3406140"/>
            <a:ext cx="301752" cy="0"/>
          </a:xfrm>
          <a:prstGeom prst="line">
            <a:avLst/>
          </a:prstGeom>
          <a:ln w="30480">
            <a:solidFill>
              <a:srgbClr val="E99D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9436608" y="2514600"/>
            <a:ext cx="182880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D3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2500"/>
              </a:spcBef>
              <a:defRPr sz="1700" b="1">
                <a:solidFill>
                  <a:srgbClr val="22262C"/>
                </a:solidFill>
                <a:latin typeface="Segoe UI"/>
              </a:defRPr>
            </a:pPr>
            <a:r>
              <a:t>Cập nhật</a:t>
            </a:r>
            <a:br/>
            <a:r>
              <a:t>doanh thu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436608" y="2514600"/>
            <a:ext cx="1828800" cy="256032"/>
          </a:xfrm>
          <a:prstGeom prst="rect">
            <a:avLst/>
          </a:prstGeom>
          <a:solidFill>
            <a:srgbClr val="21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10149840" y="4434840"/>
            <a:ext cx="411480" cy="411480"/>
          </a:xfrm>
          <a:prstGeom prst="ellipse">
            <a:avLst/>
          </a:prstGeom>
          <a:solidFill>
            <a:srgbClr val="E99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" y="5029200"/>
            <a:ext cx="10332720" cy="960120"/>
          </a:xfrm>
          <a:prstGeom prst="roundRect">
            <a:avLst/>
          </a:prstGeom>
          <a:solidFill>
            <a:srgbClr val="F0F7F8"/>
          </a:solidFill>
          <a:ln>
            <a:solidFill>
              <a:srgbClr val="D3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0">
                <a:solidFill>
                  <a:srgbClr val="585F6A"/>
                </a:solidFill>
                <a:latin typeface="Segoe UI"/>
              </a:defRPr>
            </a:pPr>
            <a:r>
              <a:t>Mục tiêu: đồng bộ trạng thái bàn theo thời gian thực và kiểm soát tồn kho tự động sau mỗi món hoàn tất.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21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84048" y="0"/>
            <a:ext cx="11807647" cy="146304"/>
          </a:xfrm>
          <a:prstGeom prst="rect">
            <a:avLst/>
          </a:prstGeom>
          <a:solidFill>
            <a:srgbClr val="0A8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018520" y="256032"/>
            <a:ext cx="310896" cy="310896"/>
          </a:xfrm>
          <a:prstGeom prst="ellipse">
            <a:avLst/>
          </a:prstGeom>
          <a:solidFill>
            <a:srgbClr val="E99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384280" y="347472"/>
            <a:ext cx="182880" cy="182880"/>
          </a:xfrm>
          <a:prstGeom prst="ellipse">
            <a:avLst/>
          </a:prstGeom>
          <a:solidFill>
            <a:srgbClr val="0A8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464040" y="219456"/>
            <a:ext cx="1371600" cy="402336"/>
          </a:xfrm>
          <a:prstGeom prst="roundRect">
            <a:avLst/>
          </a:prstGeom>
          <a:solidFill>
            <a:srgbClr val="21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KẾT QUẢ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55080"/>
            <a:ext cx="10881360" cy="18288"/>
          </a:xfrm>
          <a:prstGeom prst="rect">
            <a:avLst/>
          </a:prstGeom>
          <a:solidFill>
            <a:srgbClr val="D3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6400800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585F6A"/>
                </a:solidFill>
                <a:latin typeface="Segoe UI"/>
              </a:defRPr>
            </a:pPr>
            <a:r>
              <a:t>Đề tài: Hệ thống quản lý nhà hàng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57200"/>
            <a:ext cx="877824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700" b="1">
                <a:solidFill>
                  <a:srgbClr val="213A5A"/>
                </a:solidFill>
                <a:latin typeface="Segoe UI"/>
              </a:defRPr>
            </a:pPr>
            <a:r>
              <a:t>Kết quả triển khai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1600200"/>
            <a:ext cx="1056132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D3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987552" y="1783080"/>
            <a:ext cx="109728" cy="4160520"/>
          </a:xfrm>
          <a:prstGeom prst="rect">
            <a:avLst/>
          </a:prstGeom>
          <a:solidFill>
            <a:srgbClr val="0A8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07008" y="1828800"/>
            <a:ext cx="10012680" cy="19543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 b="0">
                <a:solidFill>
                  <a:srgbClr val="22262C"/>
                </a:solidFill>
                <a:latin typeface="Segoe UI"/>
              </a:defRPr>
            </a:pPr>
            <a:r>
              <a:rPr dirty="0"/>
              <a:t>- </a:t>
            </a:r>
            <a:r>
              <a:rPr lang="en-US" dirty="0" err="1"/>
              <a:t>Hệ</a:t>
            </a:r>
            <a:r>
              <a:rPr lang="en-US" dirty="0"/>
              <a:t> </a:t>
            </a:r>
            <a:r>
              <a:rPr lang="en-US" dirty="0" err="1"/>
              <a:t>thống</a:t>
            </a:r>
            <a:r>
              <a:rPr dirty="0"/>
              <a:t> </a:t>
            </a:r>
            <a:r>
              <a:rPr dirty="0" err="1"/>
              <a:t>chạy</a:t>
            </a:r>
            <a:r>
              <a:rPr dirty="0"/>
              <a:t> </a:t>
            </a:r>
            <a:r>
              <a:rPr dirty="0" err="1"/>
              <a:t>ổn</a:t>
            </a:r>
            <a:r>
              <a:rPr dirty="0"/>
              <a:t> </a:t>
            </a:r>
            <a:r>
              <a:rPr dirty="0" err="1"/>
              <a:t>định</a:t>
            </a:r>
            <a:r>
              <a:rPr dirty="0"/>
              <a:t> </a:t>
            </a:r>
            <a:r>
              <a:rPr dirty="0" err="1"/>
              <a:t>trên</a:t>
            </a:r>
            <a:r>
              <a:rPr dirty="0"/>
              <a:t> </a:t>
            </a:r>
            <a:r>
              <a:rPr lang="en-US" dirty="0"/>
              <a:t>web</a:t>
            </a:r>
            <a:r>
              <a:rPr dirty="0"/>
              <a:t> </a:t>
            </a:r>
            <a:r>
              <a:rPr dirty="0" err="1"/>
              <a:t>và</a:t>
            </a:r>
            <a:r>
              <a:rPr dirty="0"/>
              <a:t> </a:t>
            </a:r>
            <a:r>
              <a:rPr dirty="0" err="1"/>
              <a:t>truy</a:t>
            </a:r>
            <a:r>
              <a:rPr dirty="0"/>
              <a:t> </a:t>
            </a:r>
            <a:r>
              <a:rPr dirty="0" err="1"/>
              <a:t>cập</a:t>
            </a:r>
            <a:r>
              <a:rPr dirty="0"/>
              <a:t> </a:t>
            </a:r>
            <a:r>
              <a:rPr dirty="0" err="1"/>
              <a:t>được</a:t>
            </a:r>
            <a:r>
              <a:rPr dirty="0"/>
              <a:t> qua </a:t>
            </a:r>
            <a:r>
              <a:rPr dirty="0" err="1"/>
              <a:t>mạng</a:t>
            </a:r>
            <a:r>
              <a:rPr dirty="0"/>
              <a:t> LAN.</a:t>
            </a:r>
          </a:p>
          <a:p>
            <a:pPr>
              <a:spcAft>
                <a:spcPts val="1000"/>
              </a:spcAft>
              <a:defRPr sz="2400" b="0">
                <a:solidFill>
                  <a:srgbClr val="22262C"/>
                </a:solidFill>
                <a:latin typeface="Segoe UI"/>
              </a:defRPr>
            </a:pPr>
            <a:r>
              <a:rPr dirty="0"/>
              <a:t>- </a:t>
            </a:r>
            <a:r>
              <a:rPr dirty="0" err="1"/>
              <a:t>Dữ</a:t>
            </a:r>
            <a:r>
              <a:rPr dirty="0"/>
              <a:t> </a:t>
            </a:r>
            <a:r>
              <a:rPr dirty="0" err="1"/>
              <a:t>liệu</a:t>
            </a:r>
            <a:r>
              <a:rPr dirty="0"/>
              <a:t> </a:t>
            </a:r>
            <a:r>
              <a:rPr dirty="0" err="1"/>
              <a:t>món</a:t>
            </a:r>
            <a:r>
              <a:rPr dirty="0"/>
              <a:t> </a:t>
            </a:r>
            <a:r>
              <a:rPr dirty="0" err="1"/>
              <a:t>ăn</a:t>
            </a:r>
            <a:r>
              <a:rPr dirty="0"/>
              <a:t>, </a:t>
            </a:r>
            <a:r>
              <a:rPr dirty="0" err="1"/>
              <a:t>tồn</a:t>
            </a:r>
            <a:r>
              <a:rPr dirty="0"/>
              <a:t> </a:t>
            </a:r>
            <a:r>
              <a:rPr dirty="0" err="1"/>
              <a:t>kho</a:t>
            </a:r>
            <a:r>
              <a:rPr dirty="0"/>
              <a:t>, </a:t>
            </a:r>
            <a:r>
              <a:rPr dirty="0" err="1"/>
              <a:t>hóa</a:t>
            </a:r>
            <a:r>
              <a:rPr dirty="0"/>
              <a:t> </a:t>
            </a:r>
            <a:r>
              <a:rPr dirty="0" err="1"/>
              <a:t>đơn</a:t>
            </a:r>
            <a:r>
              <a:rPr dirty="0"/>
              <a:t> </a:t>
            </a:r>
            <a:r>
              <a:rPr dirty="0" err="1"/>
              <a:t>được</a:t>
            </a:r>
            <a:r>
              <a:rPr dirty="0"/>
              <a:t> </a:t>
            </a:r>
            <a:r>
              <a:rPr dirty="0" err="1"/>
              <a:t>cập</a:t>
            </a:r>
            <a:r>
              <a:rPr dirty="0"/>
              <a:t> </a:t>
            </a:r>
            <a:r>
              <a:rPr dirty="0" err="1"/>
              <a:t>nhật</a:t>
            </a:r>
            <a:r>
              <a:rPr dirty="0"/>
              <a:t> </a:t>
            </a:r>
            <a:r>
              <a:rPr dirty="0" err="1"/>
              <a:t>xuyên</a:t>
            </a:r>
            <a:r>
              <a:rPr dirty="0"/>
              <a:t> </a:t>
            </a:r>
            <a:r>
              <a:rPr dirty="0" err="1"/>
              <a:t>suốt</a:t>
            </a:r>
            <a:r>
              <a:rPr dirty="0"/>
              <a:t> </a:t>
            </a:r>
            <a:r>
              <a:rPr dirty="0" err="1"/>
              <a:t>quy</a:t>
            </a:r>
            <a:r>
              <a:rPr dirty="0"/>
              <a:t> </a:t>
            </a:r>
            <a:r>
              <a:rPr dirty="0" err="1"/>
              <a:t>trình</a:t>
            </a:r>
            <a:r>
              <a:rPr dirty="0"/>
              <a:t>.</a:t>
            </a:r>
          </a:p>
          <a:p>
            <a:pPr>
              <a:spcAft>
                <a:spcPts val="1000"/>
              </a:spcAft>
              <a:defRPr sz="2400" b="0">
                <a:solidFill>
                  <a:srgbClr val="22262C"/>
                </a:solidFill>
                <a:latin typeface="Segoe UI"/>
              </a:defRPr>
            </a:pPr>
            <a:r>
              <a:rPr dirty="0"/>
              <a:t>- Giao </a:t>
            </a:r>
            <a:r>
              <a:rPr dirty="0" err="1"/>
              <a:t>diện</a:t>
            </a:r>
            <a:r>
              <a:rPr dirty="0"/>
              <a:t> </a:t>
            </a:r>
            <a:r>
              <a:rPr dirty="0" err="1"/>
              <a:t>trực</a:t>
            </a:r>
            <a:r>
              <a:rPr dirty="0"/>
              <a:t> </a:t>
            </a:r>
            <a:r>
              <a:rPr dirty="0" err="1"/>
              <a:t>quan</a:t>
            </a:r>
            <a:r>
              <a:rPr dirty="0"/>
              <a:t> </a:t>
            </a:r>
            <a:r>
              <a:rPr dirty="0" err="1"/>
              <a:t>theo</a:t>
            </a:r>
            <a:r>
              <a:rPr dirty="0"/>
              <a:t> </a:t>
            </a:r>
            <a:r>
              <a:rPr dirty="0" err="1"/>
              <a:t>vai</a:t>
            </a:r>
            <a:r>
              <a:rPr dirty="0"/>
              <a:t> </a:t>
            </a:r>
            <a:r>
              <a:rPr dirty="0" err="1"/>
              <a:t>trò</a:t>
            </a:r>
            <a:r>
              <a:rPr dirty="0"/>
              <a:t> </a:t>
            </a:r>
            <a:r>
              <a:rPr dirty="0" err="1"/>
              <a:t>giúp</a:t>
            </a:r>
            <a:r>
              <a:rPr dirty="0"/>
              <a:t> </a:t>
            </a:r>
            <a:r>
              <a:rPr dirty="0" err="1"/>
              <a:t>thao</a:t>
            </a:r>
            <a:r>
              <a:rPr dirty="0"/>
              <a:t> </a:t>
            </a:r>
            <a:r>
              <a:rPr dirty="0" err="1"/>
              <a:t>tác</a:t>
            </a:r>
            <a:r>
              <a:rPr dirty="0"/>
              <a:t> </a:t>
            </a:r>
            <a:r>
              <a:rPr dirty="0" err="1"/>
              <a:t>nhanh</a:t>
            </a:r>
            <a:r>
              <a:rPr dirty="0"/>
              <a:t> </a:t>
            </a:r>
            <a:r>
              <a:rPr dirty="0" err="1"/>
              <a:t>và</a:t>
            </a:r>
            <a:r>
              <a:rPr dirty="0"/>
              <a:t> </a:t>
            </a:r>
            <a:r>
              <a:rPr dirty="0" err="1"/>
              <a:t>chính</a:t>
            </a:r>
            <a:r>
              <a:rPr dirty="0"/>
              <a:t> </a:t>
            </a:r>
            <a:r>
              <a:rPr dirty="0" err="1"/>
              <a:t>xác</a:t>
            </a:r>
            <a:r>
              <a:rPr dirty="0"/>
              <a:t>.</a:t>
            </a:r>
          </a:p>
          <a:p>
            <a:pPr>
              <a:spcAft>
                <a:spcPts val="1000"/>
              </a:spcAft>
              <a:defRPr sz="2400" b="0">
                <a:solidFill>
                  <a:srgbClr val="22262C"/>
                </a:solidFill>
                <a:latin typeface="Segoe UI"/>
              </a:defRPr>
            </a:pPr>
            <a:r>
              <a:rPr dirty="0"/>
              <a:t>- </a:t>
            </a:r>
            <a:r>
              <a:rPr dirty="0" err="1"/>
              <a:t>Dễ</a:t>
            </a:r>
            <a:r>
              <a:rPr dirty="0"/>
              <a:t> </a:t>
            </a:r>
            <a:r>
              <a:rPr dirty="0" err="1"/>
              <a:t>mở</a:t>
            </a:r>
            <a:r>
              <a:rPr dirty="0"/>
              <a:t> </a:t>
            </a:r>
            <a:r>
              <a:rPr dirty="0" err="1"/>
              <a:t>rộng</a:t>
            </a:r>
            <a:r>
              <a:rPr dirty="0"/>
              <a:t> </a:t>
            </a:r>
            <a:r>
              <a:rPr dirty="0" err="1"/>
              <a:t>thêm</a:t>
            </a:r>
            <a:r>
              <a:rPr dirty="0"/>
              <a:t> </a:t>
            </a:r>
            <a:r>
              <a:rPr dirty="0" err="1"/>
              <a:t>phân</a:t>
            </a:r>
            <a:r>
              <a:rPr dirty="0"/>
              <a:t> </a:t>
            </a:r>
            <a:r>
              <a:rPr dirty="0" err="1"/>
              <a:t>hệ</a:t>
            </a:r>
            <a:r>
              <a:rPr dirty="0"/>
              <a:t> </a:t>
            </a:r>
            <a:r>
              <a:rPr dirty="0" err="1"/>
              <a:t>khách</a:t>
            </a:r>
            <a:r>
              <a:rPr dirty="0"/>
              <a:t> </a:t>
            </a:r>
            <a:r>
              <a:rPr dirty="0" err="1"/>
              <a:t>hàng</a:t>
            </a:r>
            <a:r>
              <a:rPr dirty="0"/>
              <a:t> </a:t>
            </a:r>
            <a:r>
              <a:rPr dirty="0" err="1"/>
              <a:t>thân</a:t>
            </a:r>
            <a:r>
              <a:rPr dirty="0"/>
              <a:t> </a:t>
            </a:r>
            <a:r>
              <a:rPr dirty="0" err="1"/>
              <a:t>thiết</a:t>
            </a:r>
            <a:r>
              <a:rPr dirty="0"/>
              <a:t>, </a:t>
            </a:r>
            <a:r>
              <a:rPr dirty="0" err="1"/>
              <a:t>báo</a:t>
            </a:r>
            <a:r>
              <a:rPr dirty="0"/>
              <a:t> </a:t>
            </a:r>
            <a:r>
              <a:rPr dirty="0" err="1"/>
              <a:t>cáo</a:t>
            </a:r>
            <a:r>
              <a:rPr dirty="0"/>
              <a:t> </a:t>
            </a:r>
            <a:r>
              <a:rPr dirty="0" err="1"/>
              <a:t>nâng</a:t>
            </a:r>
            <a:r>
              <a:rPr dirty="0"/>
              <a:t> </a:t>
            </a:r>
            <a:r>
              <a:rPr dirty="0" err="1"/>
              <a:t>cao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21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84048" y="0"/>
            <a:ext cx="11807647" cy="146304"/>
          </a:xfrm>
          <a:prstGeom prst="rect">
            <a:avLst/>
          </a:prstGeom>
          <a:solidFill>
            <a:srgbClr val="0A8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018520" y="256032"/>
            <a:ext cx="310896" cy="310896"/>
          </a:xfrm>
          <a:prstGeom prst="ellipse">
            <a:avLst/>
          </a:prstGeom>
          <a:solidFill>
            <a:srgbClr val="E99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384280" y="347472"/>
            <a:ext cx="182880" cy="182880"/>
          </a:xfrm>
          <a:prstGeom prst="ellipse">
            <a:avLst/>
          </a:prstGeom>
          <a:solidFill>
            <a:srgbClr val="0A8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464040" y="219456"/>
            <a:ext cx="1371600" cy="402336"/>
          </a:xfrm>
          <a:prstGeom prst="roundRect">
            <a:avLst/>
          </a:prstGeom>
          <a:solidFill>
            <a:srgbClr val="21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MỞ RỘNG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55080"/>
            <a:ext cx="10881360" cy="18288"/>
          </a:xfrm>
          <a:prstGeom prst="rect">
            <a:avLst/>
          </a:prstGeom>
          <a:solidFill>
            <a:srgbClr val="D3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6400800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585F6A"/>
                </a:solidFill>
                <a:latin typeface="Segoe UI"/>
              </a:defRPr>
            </a:pPr>
            <a:r>
              <a:t>Đề tài: Hệ thống quản lý nhà hàng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57200"/>
            <a:ext cx="877824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700" b="1">
                <a:solidFill>
                  <a:srgbClr val="213A5A"/>
                </a:solidFill>
                <a:latin typeface="Segoe UI"/>
              </a:defRPr>
            </a:pPr>
            <a:r>
              <a:t>Hạn chế và hướng phát triển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1600200"/>
            <a:ext cx="1056132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D3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987552" y="1783080"/>
            <a:ext cx="109728" cy="4160520"/>
          </a:xfrm>
          <a:prstGeom prst="rect">
            <a:avLst/>
          </a:prstGeom>
          <a:solidFill>
            <a:srgbClr val="0A8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07008" y="1828800"/>
            <a:ext cx="100126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 b="0">
                <a:solidFill>
                  <a:srgbClr val="22262C"/>
                </a:solidFill>
                <a:latin typeface="Segoe UI"/>
              </a:defRPr>
            </a:pPr>
            <a:r>
              <a:t>- Hiện chưa có dashboard biểu đồ nâng cao theo thời gian.</a:t>
            </a:r>
          </a:p>
          <a:p>
            <a:pPr>
              <a:spcAft>
                <a:spcPts val="1000"/>
              </a:spcAft>
              <a:defRPr sz="2400" b="0">
                <a:solidFill>
                  <a:srgbClr val="22262C"/>
                </a:solidFill>
                <a:latin typeface="Segoe UI"/>
              </a:defRPr>
            </a:pPr>
            <a:r>
              <a:t>- Chưa tích hợp sao lưu tự động hoặc đa chi nhánh.</a:t>
            </a:r>
          </a:p>
          <a:p>
            <a:pPr>
              <a:spcAft>
                <a:spcPts val="1000"/>
              </a:spcAft>
              <a:defRPr sz="2400" b="0">
                <a:solidFill>
                  <a:srgbClr val="22262C"/>
                </a:solidFill>
                <a:latin typeface="Segoe UI"/>
              </a:defRPr>
            </a:pPr>
            <a:r>
              <a:t>- Hướng phát triển: phân quyền chi tiết hơn và xác thực bảo mật cao hơn.</a:t>
            </a:r>
          </a:p>
          <a:p>
            <a:pPr>
              <a:spcAft>
                <a:spcPts val="1000"/>
              </a:spcAft>
              <a:defRPr sz="2400" b="0">
                <a:solidFill>
                  <a:srgbClr val="22262C"/>
                </a:solidFill>
                <a:latin typeface="Segoe UI"/>
              </a:defRPr>
            </a:pPr>
            <a:r>
              <a:t>- Mở rộng API cho ứng dụng di động và cổng thanh toán trực tuyến.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21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84048" y="0"/>
            <a:ext cx="11807647" cy="146304"/>
          </a:xfrm>
          <a:prstGeom prst="rect">
            <a:avLst/>
          </a:prstGeom>
          <a:solidFill>
            <a:srgbClr val="0A8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018520" y="256032"/>
            <a:ext cx="310896" cy="310896"/>
          </a:xfrm>
          <a:prstGeom prst="ellipse">
            <a:avLst/>
          </a:prstGeom>
          <a:solidFill>
            <a:srgbClr val="E99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384280" y="347472"/>
            <a:ext cx="182880" cy="182880"/>
          </a:xfrm>
          <a:prstGeom prst="ellipse">
            <a:avLst/>
          </a:prstGeom>
          <a:solidFill>
            <a:srgbClr val="0A8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464040" y="219456"/>
            <a:ext cx="1371600" cy="402336"/>
          </a:xfrm>
          <a:prstGeom prst="roundRect">
            <a:avLst/>
          </a:prstGeom>
          <a:solidFill>
            <a:srgbClr val="21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KẾT THÚC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55080"/>
            <a:ext cx="10881360" cy="18288"/>
          </a:xfrm>
          <a:prstGeom prst="rect">
            <a:avLst/>
          </a:prstGeom>
          <a:solidFill>
            <a:srgbClr val="D3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6400800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585F6A"/>
                </a:solidFill>
                <a:latin typeface="Segoe UI"/>
              </a:defRPr>
            </a:pPr>
            <a:r>
              <a:t>Đề tài: Hệ thống quản lý nhà hàng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57200"/>
            <a:ext cx="877824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700" b="1">
                <a:solidFill>
                  <a:srgbClr val="213A5A"/>
                </a:solidFill>
                <a:latin typeface="Segoe UI"/>
              </a:defRPr>
            </a:pPr>
            <a:r>
              <a:t>Kết luận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1600200"/>
            <a:ext cx="1056132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D3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987552" y="1783080"/>
            <a:ext cx="109728" cy="4160520"/>
          </a:xfrm>
          <a:prstGeom prst="rect">
            <a:avLst/>
          </a:prstGeom>
          <a:solidFill>
            <a:srgbClr val="0A8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81531" y="1828800"/>
            <a:ext cx="10012680" cy="14568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 b="0">
                <a:solidFill>
                  <a:srgbClr val="22262C"/>
                </a:solidFill>
                <a:latin typeface="Segoe UI"/>
              </a:defRPr>
            </a:pPr>
            <a:r>
              <a:rPr dirty="0"/>
              <a:t>- </a:t>
            </a:r>
            <a:r>
              <a:rPr dirty="0" err="1"/>
              <a:t>Đề</a:t>
            </a:r>
            <a:r>
              <a:rPr dirty="0"/>
              <a:t> </a:t>
            </a:r>
            <a:r>
              <a:rPr dirty="0" err="1"/>
              <a:t>tài</a:t>
            </a:r>
            <a:r>
              <a:rPr dirty="0"/>
              <a:t> </a:t>
            </a:r>
            <a:r>
              <a:rPr dirty="0" err="1"/>
              <a:t>đã</a:t>
            </a:r>
            <a:r>
              <a:rPr dirty="0"/>
              <a:t> </a:t>
            </a:r>
            <a:r>
              <a:rPr dirty="0" err="1"/>
              <a:t>đáp</a:t>
            </a:r>
            <a:r>
              <a:rPr dirty="0"/>
              <a:t> </a:t>
            </a:r>
            <a:r>
              <a:rPr dirty="0" err="1"/>
              <a:t>ứng</a:t>
            </a:r>
            <a:r>
              <a:rPr dirty="0"/>
              <a:t> </a:t>
            </a:r>
            <a:r>
              <a:rPr dirty="0" err="1"/>
              <a:t>đầy</a:t>
            </a:r>
            <a:r>
              <a:rPr dirty="0"/>
              <a:t> </a:t>
            </a:r>
            <a:r>
              <a:rPr dirty="0" err="1"/>
              <a:t>đủ</a:t>
            </a:r>
            <a:r>
              <a:rPr dirty="0"/>
              <a:t> </a:t>
            </a:r>
            <a:r>
              <a:rPr dirty="0" err="1"/>
              <a:t>luồng</a:t>
            </a:r>
            <a:r>
              <a:rPr dirty="0"/>
              <a:t> </a:t>
            </a:r>
            <a:r>
              <a:rPr dirty="0" err="1"/>
              <a:t>nghiệp</a:t>
            </a:r>
            <a:r>
              <a:rPr dirty="0"/>
              <a:t> </a:t>
            </a:r>
            <a:r>
              <a:rPr dirty="0" err="1"/>
              <a:t>vụ</a:t>
            </a:r>
            <a:r>
              <a:rPr dirty="0"/>
              <a:t> </a:t>
            </a:r>
            <a:r>
              <a:rPr dirty="0" err="1"/>
              <a:t>cốt</a:t>
            </a:r>
            <a:r>
              <a:rPr dirty="0"/>
              <a:t> </a:t>
            </a:r>
            <a:r>
              <a:rPr dirty="0" err="1"/>
              <a:t>lõi</a:t>
            </a:r>
            <a:r>
              <a:rPr dirty="0"/>
              <a:t> </a:t>
            </a:r>
            <a:r>
              <a:rPr dirty="0" err="1"/>
              <a:t>của</a:t>
            </a:r>
            <a:r>
              <a:rPr dirty="0"/>
              <a:t> </a:t>
            </a:r>
            <a:r>
              <a:rPr dirty="0" err="1"/>
              <a:t>nhà</a:t>
            </a:r>
            <a:r>
              <a:rPr dirty="0"/>
              <a:t> </a:t>
            </a:r>
            <a:r>
              <a:rPr dirty="0" err="1"/>
              <a:t>hàng</a:t>
            </a:r>
            <a:r>
              <a:rPr dirty="0"/>
              <a:t>.</a:t>
            </a:r>
          </a:p>
          <a:p>
            <a:pPr>
              <a:spcAft>
                <a:spcPts val="1000"/>
              </a:spcAft>
              <a:defRPr sz="2400" b="0">
                <a:solidFill>
                  <a:srgbClr val="22262C"/>
                </a:solidFill>
                <a:latin typeface="Segoe UI"/>
              </a:defRPr>
            </a:pPr>
            <a:r>
              <a:rPr dirty="0"/>
              <a:t>- </a:t>
            </a:r>
            <a:r>
              <a:rPr dirty="0" err="1"/>
              <a:t>Kiến</a:t>
            </a:r>
            <a:r>
              <a:rPr dirty="0"/>
              <a:t> </a:t>
            </a:r>
            <a:r>
              <a:rPr dirty="0" err="1"/>
              <a:t>trúc</a:t>
            </a:r>
            <a:r>
              <a:rPr dirty="0"/>
              <a:t> 2 </a:t>
            </a:r>
            <a:r>
              <a:rPr dirty="0" err="1"/>
              <a:t>lớp</a:t>
            </a:r>
            <a:r>
              <a:rPr dirty="0"/>
              <a:t> </a:t>
            </a:r>
            <a:r>
              <a:rPr dirty="0" err="1"/>
              <a:t>giúp</a:t>
            </a:r>
            <a:r>
              <a:rPr dirty="0"/>
              <a:t> </a:t>
            </a:r>
            <a:r>
              <a:rPr dirty="0" err="1"/>
              <a:t>hệ</a:t>
            </a:r>
            <a:r>
              <a:rPr dirty="0"/>
              <a:t> </a:t>
            </a:r>
            <a:r>
              <a:rPr dirty="0" err="1"/>
              <a:t>thống</a:t>
            </a:r>
            <a:r>
              <a:rPr dirty="0"/>
              <a:t> </a:t>
            </a:r>
            <a:r>
              <a:rPr dirty="0" err="1"/>
              <a:t>gọn</a:t>
            </a:r>
            <a:r>
              <a:rPr dirty="0"/>
              <a:t>, </a:t>
            </a:r>
            <a:r>
              <a:rPr dirty="0" err="1"/>
              <a:t>dễ</a:t>
            </a:r>
            <a:r>
              <a:rPr dirty="0"/>
              <a:t> </a:t>
            </a:r>
            <a:r>
              <a:rPr dirty="0" err="1"/>
              <a:t>vận</a:t>
            </a:r>
            <a:r>
              <a:rPr dirty="0"/>
              <a:t> </a:t>
            </a:r>
            <a:r>
              <a:rPr dirty="0" err="1"/>
              <a:t>hành</a:t>
            </a:r>
            <a:r>
              <a:rPr dirty="0"/>
              <a:t> </a:t>
            </a:r>
            <a:r>
              <a:rPr dirty="0" err="1"/>
              <a:t>và</a:t>
            </a:r>
            <a:r>
              <a:rPr dirty="0"/>
              <a:t> </a:t>
            </a:r>
            <a:r>
              <a:rPr dirty="0" err="1"/>
              <a:t>bảo</a:t>
            </a:r>
            <a:r>
              <a:rPr dirty="0"/>
              <a:t> </a:t>
            </a:r>
            <a:r>
              <a:rPr dirty="0" err="1"/>
              <a:t>trì</a:t>
            </a:r>
            <a:r>
              <a:rPr dirty="0"/>
              <a:t>.</a:t>
            </a:r>
          </a:p>
          <a:p>
            <a:pPr>
              <a:spcAft>
                <a:spcPts val="1000"/>
              </a:spcAft>
              <a:defRPr sz="2400" b="0">
                <a:solidFill>
                  <a:srgbClr val="22262C"/>
                </a:solidFill>
                <a:latin typeface="Segoe UI"/>
              </a:defRPr>
            </a:pPr>
            <a:r>
              <a:rPr dirty="0"/>
              <a:t>- CSDL </a:t>
            </a:r>
            <a:r>
              <a:rPr dirty="0" err="1"/>
              <a:t>quan</a:t>
            </a:r>
            <a:r>
              <a:rPr dirty="0"/>
              <a:t> </a:t>
            </a:r>
            <a:r>
              <a:rPr dirty="0" err="1"/>
              <a:t>hệ</a:t>
            </a:r>
            <a:r>
              <a:rPr dirty="0"/>
              <a:t> </a:t>
            </a:r>
            <a:r>
              <a:rPr dirty="0" err="1"/>
              <a:t>rõ</a:t>
            </a:r>
            <a:r>
              <a:rPr dirty="0"/>
              <a:t> </a:t>
            </a:r>
            <a:r>
              <a:rPr dirty="0" err="1"/>
              <a:t>ràng</a:t>
            </a:r>
            <a:r>
              <a:rPr dirty="0"/>
              <a:t> </a:t>
            </a:r>
            <a:r>
              <a:rPr dirty="0" err="1"/>
              <a:t>giúp</a:t>
            </a:r>
            <a:r>
              <a:rPr dirty="0"/>
              <a:t> </a:t>
            </a:r>
            <a:r>
              <a:rPr dirty="0" err="1"/>
              <a:t>truy</a:t>
            </a:r>
            <a:r>
              <a:rPr dirty="0"/>
              <a:t> </a:t>
            </a:r>
            <a:r>
              <a:rPr dirty="0" err="1"/>
              <a:t>vết</a:t>
            </a:r>
            <a:r>
              <a:rPr dirty="0"/>
              <a:t> </a:t>
            </a:r>
            <a:r>
              <a:rPr dirty="0" err="1"/>
              <a:t>dữ</a:t>
            </a:r>
            <a:r>
              <a:rPr dirty="0"/>
              <a:t> </a:t>
            </a:r>
            <a:r>
              <a:rPr dirty="0" err="1"/>
              <a:t>liệu</a:t>
            </a:r>
            <a:r>
              <a:rPr dirty="0"/>
              <a:t> </a:t>
            </a:r>
            <a:r>
              <a:rPr dirty="0" err="1"/>
              <a:t>chính</a:t>
            </a:r>
            <a:r>
              <a:rPr dirty="0"/>
              <a:t> </a:t>
            </a:r>
            <a:r>
              <a:rPr dirty="0" err="1"/>
              <a:t>xác</a:t>
            </a:r>
            <a:r>
              <a:rPr dirty="0"/>
              <a:t> </a:t>
            </a:r>
            <a:r>
              <a:rPr dirty="0" err="1"/>
              <a:t>và</a:t>
            </a:r>
            <a:r>
              <a:rPr dirty="0"/>
              <a:t> </a:t>
            </a:r>
            <a:r>
              <a:rPr dirty="0" err="1"/>
              <a:t>nhất</a:t>
            </a:r>
            <a:r>
              <a:rPr dirty="0"/>
              <a:t> </a:t>
            </a:r>
            <a:r>
              <a:rPr dirty="0" err="1"/>
              <a:t>quán</a:t>
            </a:r>
            <a:r>
              <a:rPr dirty="0"/>
              <a:t>.</a:t>
            </a:r>
            <a:endParaRPr 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A038F33-67C4-454A-8617-B8488DD5C115}"/>
              </a:ext>
            </a:extLst>
          </p:cNvPr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21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CAD38FD-54EF-4C05-8341-F028FF03C147}"/>
              </a:ext>
            </a:extLst>
          </p:cNvPr>
          <p:cNvSpPr/>
          <p:nvPr/>
        </p:nvSpPr>
        <p:spPr>
          <a:xfrm>
            <a:off x="384048" y="0"/>
            <a:ext cx="11807647" cy="146304"/>
          </a:xfrm>
          <a:prstGeom prst="rect">
            <a:avLst/>
          </a:prstGeom>
          <a:solidFill>
            <a:srgbClr val="0A8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651D891-7211-4FD2-A8E3-A592719A7522}"/>
              </a:ext>
            </a:extLst>
          </p:cNvPr>
          <p:cNvSpPr/>
          <p:nvPr/>
        </p:nvSpPr>
        <p:spPr>
          <a:xfrm>
            <a:off x="11018520" y="256032"/>
            <a:ext cx="310896" cy="310896"/>
          </a:xfrm>
          <a:prstGeom prst="ellipse">
            <a:avLst/>
          </a:prstGeom>
          <a:solidFill>
            <a:srgbClr val="E99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EB4A52A-999F-48F0-9C08-C1960B2A51CA}"/>
              </a:ext>
            </a:extLst>
          </p:cNvPr>
          <p:cNvSpPr/>
          <p:nvPr/>
        </p:nvSpPr>
        <p:spPr>
          <a:xfrm>
            <a:off x="11384280" y="347472"/>
            <a:ext cx="182880" cy="182880"/>
          </a:xfrm>
          <a:prstGeom prst="ellipse">
            <a:avLst/>
          </a:prstGeom>
          <a:solidFill>
            <a:srgbClr val="0A8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2F04842-1D3C-413C-AF26-0E20CED596F6}"/>
              </a:ext>
            </a:extLst>
          </p:cNvPr>
          <p:cNvSpPr/>
          <p:nvPr/>
        </p:nvSpPr>
        <p:spPr>
          <a:xfrm>
            <a:off x="9464040" y="219456"/>
            <a:ext cx="1371600" cy="402336"/>
          </a:xfrm>
          <a:prstGeom prst="roundRect">
            <a:avLst/>
          </a:prstGeom>
          <a:solidFill>
            <a:srgbClr val="21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rPr dirty="0"/>
              <a:t>KẾT THÚC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CC0783E-1459-4F03-B46C-F539D0605D0A}"/>
              </a:ext>
            </a:extLst>
          </p:cNvPr>
          <p:cNvSpPr/>
          <p:nvPr/>
        </p:nvSpPr>
        <p:spPr>
          <a:xfrm>
            <a:off x="658368" y="6355080"/>
            <a:ext cx="10881360" cy="18288"/>
          </a:xfrm>
          <a:prstGeom prst="rect">
            <a:avLst/>
          </a:prstGeom>
          <a:solidFill>
            <a:srgbClr val="D3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69E486-B9C3-43F1-AF10-26712DC9A121}"/>
              </a:ext>
            </a:extLst>
          </p:cNvPr>
          <p:cNvSpPr txBox="1"/>
          <p:nvPr/>
        </p:nvSpPr>
        <p:spPr>
          <a:xfrm>
            <a:off x="731520" y="6400800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585F6A"/>
                </a:solidFill>
                <a:latin typeface="Segoe UI"/>
              </a:defRPr>
            </a:pPr>
            <a:r>
              <a:t>Đề tài: Hệ thống quản lý nhà hàng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7BAD0B9-4670-46D9-9202-A54C8998BECA}"/>
              </a:ext>
            </a:extLst>
          </p:cNvPr>
          <p:cNvSpPr txBox="1"/>
          <p:nvPr/>
        </p:nvSpPr>
        <p:spPr>
          <a:xfrm>
            <a:off x="3215808" y="2705725"/>
            <a:ext cx="61441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 b="0">
                <a:solidFill>
                  <a:srgbClr val="22262C"/>
                </a:solidFill>
                <a:latin typeface="Segoe UI"/>
              </a:defRPr>
            </a:pPr>
            <a:r>
              <a:rPr lang="vi-VN" sz="4400" dirty="0"/>
              <a:t>Xin cảm ơn thầy/cô và các bạn đã theo dõi.</a:t>
            </a:r>
          </a:p>
        </p:txBody>
      </p:sp>
    </p:spTree>
    <p:extLst>
      <p:ext uri="{BB962C8B-B14F-4D97-AF65-F5344CB8AC3E}">
        <p14:creationId xmlns:p14="http://schemas.microsoft.com/office/powerpoint/2010/main" val="24659827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</TotalTime>
  <Words>1191</Words>
  <Application>Microsoft Office PowerPoint</Application>
  <PresentationFormat>Widescreen</PresentationFormat>
  <Paragraphs>137</Paragraphs>
  <Slides>16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ADMIN</dc:creator>
  <cp:keywords/>
  <dc:description>generated using python-pptx</dc:description>
  <cp:lastModifiedBy>Lê Minh</cp:lastModifiedBy>
  <cp:revision>2</cp:revision>
  <dcterms:created xsi:type="dcterms:W3CDTF">2013-01-27T09:14:16Z</dcterms:created>
  <dcterms:modified xsi:type="dcterms:W3CDTF">2026-04-04T16:21:07Z</dcterms:modified>
  <cp:category/>
</cp:coreProperties>
</file>