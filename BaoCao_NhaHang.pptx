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92DFC-B2D8-491E-8013-EF847170CE81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9C946-08D5-4097-87E9-EAC9A0523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10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C946-08D5-4097-87E9-EAC9A052391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99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MỞ ĐẦU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115568"/>
            <a:ext cx="105156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097280"/>
            <a:ext cx="3794760" cy="4892040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176272" y="1874519"/>
            <a:ext cx="1234440" cy="123444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4517" y="3337560"/>
            <a:ext cx="1903085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BÁO CÁO</a:t>
            </a:r>
            <a:br>
              <a:rPr dirty="0"/>
            </a:br>
            <a:r>
              <a:rPr lang="en-US" dirty="0"/>
              <a:t>ĐỀ TÀI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074920" y="1828800"/>
            <a:ext cx="5943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13A5A"/>
                </a:solidFill>
                <a:latin typeface="Segoe UI"/>
              </a:defRPr>
            </a:pPr>
            <a:r>
              <a:rPr dirty="0"/>
              <a:t>HỆ THỐNG</a:t>
            </a:r>
            <a:br>
              <a:rPr dirty="0"/>
            </a:br>
            <a:r>
              <a:rPr dirty="0"/>
              <a:t>QUẢN LÝ NHÀ HÀNG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50832"/>
            <a:ext cx="37947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85F6A"/>
                </a:solidFill>
                <a:latin typeface="Segoe UI"/>
              </a:defRPr>
            </a:pPr>
            <a:r>
              <a:rPr dirty="0" err="1"/>
              <a:t>Môn</a:t>
            </a:r>
            <a:r>
              <a:rPr dirty="0"/>
              <a:t>: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mềm</a:t>
            </a:r>
            <a:endParaRPr lang="en-US" dirty="0"/>
          </a:p>
          <a:p>
            <a:pPr>
              <a:defRPr sz="1600" b="0">
                <a:solidFill>
                  <a:srgbClr val="585F6A"/>
                </a:solidFill>
                <a:latin typeface="Segoe UI"/>
              </a:defRPr>
            </a:pP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 </a:t>
            </a:r>
            <a:r>
              <a:rPr lang="en-US" dirty="0"/>
              <a:t>Lê </a:t>
            </a:r>
            <a:r>
              <a:rPr lang="en-US" dirty="0" err="1"/>
              <a:t>Văn</a:t>
            </a:r>
            <a:r>
              <a:rPr lang="en-US" dirty="0"/>
              <a:t> Minh</a:t>
            </a:r>
          </a:p>
          <a:p>
            <a:pPr>
              <a:defRPr sz="1600" b="0">
                <a:solidFill>
                  <a:srgbClr val="585F6A"/>
                </a:solidFill>
                <a:latin typeface="Segoe UI"/>
              </a:defRPr>
            </a:pPr>
            <a:r>
              <a:rPr lang="en-US" dirty="0"/>
              <a:t>		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An</a:t>
            </a:r>
          </a:p>
          <a:p>
            <a:pPr>
              <a:defRPr sz="1600" b="0">
                <a:solidFill>
                  <a:srgbClr val="585F6A"/>
                </a:solidFill>
                <a:latin typeface="Segoe UI"/>
              </a:defRPr>
            </a:pPr>
            <a:r>
              <a:rPr lang="en-US" dirty="0"/>
              <a:t>		Lê </a:t>
            </a:r>
            <a:r>
              <a:rPr lang="en-US" dirty="0" err="1"/>
              <a:t>Đức</a:t>
            </a:r>
            <a:r>
              <a:rPr lang="en-US" dirty="0"/>
              <a:t> Anh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MỤC LỤC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Nội dung báo cáo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,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chức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Use case,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,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theo.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MỤC TIÊU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Mục tiêu đề tài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web 2 </a:t>
            </a:r>
            <a:r>
              <a:rPr dirty="0" err="1"/>
              <a:t>lớp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: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,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dirty="0"/>
              <a:t>,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dirty="0"/>
              <a:t>,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dirty="0"/>
              <a:t> </a:t>
            </a:r>
            <a:r>
              <a:rPr dirty="0" err="1"/>
              <a:t>kho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,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, use case,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data base.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lang="en-US" dirty="0"/>
              <a:t>-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PHẠM VI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Phạm vi và tác nhân sử dụng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: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,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, Thu </a:t>
            </a:r>
            <a:r>
              <a:rPr dirty="0" err="1"/>
              <a:t>ngân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vận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vừa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song </a:t>
            </a:r>
            <a:r>
              <a:rPr dirty="0" err="1"/>
              <a:t>song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KIẾN TRÚC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Kiến trúc hệ thống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5074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600200"/>
            <a:ext cx="5074920" cy="6858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600200"/>
            <a:ext cx="5212080" cy="68580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1773936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Lớp giao diện (Frontend)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73936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Lớp xử lý (Backend)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2468880"/>
            <a:ext cx="4700326" cy="29392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HTML/CSS/JavaScript.</a:t>
            </a:r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, order, </a:t>
            </a:r>
            <a:endParaRPr lang="en-US" dirty="0"/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lang="en-US" dirty="0"/>
              <a:t>, </a:t>
            </a:r>
            <a:r>
              <a:rPr lang="en-US" dirty="0" err="1"/>
              <a:t>kho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khiển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.</a:t>
            </a:r>
            <a:endParaRPr lang="en-US" dirty="0"/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lang="en-US" dirty="0"/>
              <a:t>-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,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, </a:t>
            </a:r>
            <a:r>
              <a:rPr lang="en-US" dirty="0" err="1"/>
              <a:t>quên</a:t>
            </a:r>
            <a:endParaRPr lang="en-US" dirty="0"/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446520" y="2435961"/>
            <a:ext cx="50749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Node.js + Express </a:t>
            </a:r>
            <a:r>
              <a:rPr dirty="0" err="1"/>
              <a:t>cung</a:t>
            </a:r>
            <a:r>
              <a:rPr dirty="0"/>
              <a:t> </a:t>
            </a:r>
            <a:r>
              <a:rPr dirty="0" err="1"/>
              <a:t>cấp</a:t>
            </a:r>
            <a:r>
              <a:rPr dirty="0"/>
              <a:t> REST API.</a:t>
            </a:r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SQLite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20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order -&gt; </a:t>
            </a:r>
            <a:r>
              <a:rPr dirty="0" err="1"/>
              <a:t>bếp</a:t>
            </a:r>
            <a:r>
              <a:rPr dirty="0"/>
              <a:t> -&gt;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toán</a:t>
            </a:r>
            <a:r>
              <a:rPr lang="en-US" dirty="0"/>
              <a:t>;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-&gt;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….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CHỨC NĂNG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Phân hệ chức năng chính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Quản lý tài khoản: đăng nhập, đăng ký, quên mật khẩu, đăng xuất.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Quản lý bàn và order: thêm món, gửi bếp, theo dõi theo từng bàn.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Quản lý bếp: xác nhận món hoàn tất và cập nhật trạng thái.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Thanh toán hóa đơn: áp mã giảm giá, in hóa đơn, ghi doanh thu.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Kho nguyên liệu: thêm kho, gán định mức, tự động trừ tồn.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DỮ LIỆU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85" y="618440"/>
            <a:ext cx="5665333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68680" y="1572768"/>
            <a:ext cx="10561320" cy="4315968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071500"/>
              </p:ext>
            </p:extLst>
          </p:nvPr>
        </p:nvGraphicFramePr>
        <p:xfrm>
          <a:off x="1028700" y="1781383"/>
          <a:ext cx="102412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94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Bảng</a:t>
                      </a:r>
                    </a:p>
                  </a:txBody>
                  <a:tcPr>
                    <a:solidFill>
                      <a:srgbClr val="213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Mục đích</a:t>
                      </a:r>
                    </a:p>
                  </a:txBody>
                  <a:tcPr>
                    <a:solidFill>
                      <a:srgbClr val="21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nhan_vien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Quản lý tài khoản, vai trò và phiên đăng nhập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ban_an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Lưu thông tin bàn và trạng thái phục vụ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rPr dirty="0" err="1"/>
                        <a:t>mon_an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Danh mục món ăn và giá bán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nguyen_lieu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Kho nguyên liệu và số lượng tồn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mon_an_nguyen_lieu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Định mức nguyên liệu cho từng món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don_hang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Các dòng order theo bàn</a:t>
                      </a:r>
                    </a:p>
                  </a:txBody>
                  <a:tcPr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hoa_don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t>Thanh toán, giảm giá, doanh 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rPr dirty="0" err="1"/>
                        <a:t>thong_ke_he_thong</a:t>
                      </a:r>
                      <a:endParaRPr dirty="0"/>
                    </a:p>
                  </a:txBody>
                  <a:tcPr>
                    <a:solidFill>
                      <a:srgbClr val="F0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62C"/>
                          </a:solidFill>
                          <a:latin typeface="Segoe UI"/>
                        </a:defRPr>
                      </a:pPr>
                      <a:r>
                        <a:rPr dirty="0" err="1"/>
                        <a:t>Tổng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hợp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số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liệu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hệ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thống</a:t>
                      </a:r>
                      <a:endParaRPr dirty="0"/>
                    </a:p>
                  </a:txBody>
                  <a:tcPr>
                    <a:solidFill>
                      <a:srgbClr val="F0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2238305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rPr dirty="0"/>
              <a:t>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1118920"/>
            <a:ext cx="11168500" cy="5174662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7C3359-D21D-4271-A80C-10D91390E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481" y="1283512"/>
            <a:ext cx="10566317" cy="48439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5192447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dirty="0"/>
              <a:t>(ERD)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:</a:t>
            </a:r>
          </a:p>
          <a:p>
            <a:pPr marL="342900" indent="-342900">
              <a:spcAft>
                <a:spcPts val="1000"/>
              </a:spcAft>
              <a:buFontTx/>
              <a:buChar char="-"/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,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,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endParaRPr lang="en-US" dirty="0"/>
          </a:p>
          <a:p>
            <a:pPr marL="342900" indent="-342900">
              <a:spcAft>
                <a:spcPts val="1000"/>
              </a:spcAft>
              <a:buFontTx/>
              <a:buChar char="-"/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lang="en-US" dirty="0" err="1"/>
              <a:t>Món</a:t>
            </a:r>
            <a:r>
              <a:rPr lang="en-US" dirty="0"/>
              <a:t> </a:t>
            </a:r>
            <a:r>
              <a:rPr lang="en-US" dirty="0" err="1"/>
              <a:t>ăn</a:t>
            </a:r>
            <a:r>
              <a:rPr lang="en-US" dirty="0"/>
              <a:t>: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món</a:t>
            </a:r>
            <a:r>
              <a:rPr lang="en-US" dirty="0"/>
              <a:t>,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món</a:t>
            </a:r>
            <a:r>
              <a:rPr lang="en-US" dirty="0"/>
              <a:t>, </a:t>
            </a:r>
            <a:r>
              <a:rPr lang="en-US" dirty="0" err="1"/>
              <a:t>giá</a:t>
            </a:r>
            <a:endParaRPr lang="en-US" dirty="0"/>
          </a:p>
          <a:p>
            <a:pPr marL="342900" indent="-342900">
              <a:spcAft>
                <a:spcPts val="1000"/>
              </a:spcAft>
              <a:buFontTx/>
              <a:buChar char="-"/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: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,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,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,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,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marL="342900" indent="-342900">
              <a:spcAft>
                <a:spcPts val="1000"/>
              </a:spcAft>
              <a:buFontTx/>
              <a:buChar char="-"/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: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món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,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,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,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tạo</a:t>
            </a:r>
            <a:endParaRPr lang="en-US" dirty="0"/>
          </a:p>
          <a:p>
            <a:pPr marL="342900" indent="-342900">
              <a:spcAft>
                <a:spcPts val="1000"/>
              </a:spcAft>
              <a:buFontTx/>
              <a:buChar char="-"/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,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endParaRPr lang="en-US" dirty="0"/>
          </a:p>
          <a:p>
            <a:pPr marL="342900" indent="-342900">
              <a:spcAft>
                <a:spcPts val="1000"/>
              </a:spcAft>
              <a:buFontTx/>
              <a:buChar char="-"/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ăn</a:t>
            </a:r>
            <a:r>
              <a:rPr lang="en-US" dirty="0"/>
              <a:t>: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,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,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73736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rPr dirty="0"/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719882"/>
            <a:ext cx="345799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585F6A"/>
                </a:solidFill>
                <a:latin typeface="Segoe UI"/>
              </a:defRPr>
            </a:pPr>
            <a:r>
              <a:rPr lang="en-US" dirty="0"/>
              <a:t>Use case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DC37A9-B423-42FE-905C-F62D5C12E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94" y="1113074"/>
            <a:ext cx="9845826" cy="5052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 CASE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594360" y="6496813"/>
            <a:ext cx="10881360" cy="45719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19673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: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hàng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84048" y="118872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rPr dirty="0"/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668097"/>
            <a:ext cx="399660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585F6A"/>
                </a:solidFill>
                <a:latin typeface="Segoe UI"/>
              </a:defRPr>
            </a:pPr>
            <a:r>
              <a:rPr lang="en-US" dirty="0"/>
              <a:t>Use case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BFC05C-753B-4074-9889-848948CD0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87" y="1052145"/>
            <a:ext cx="11660956" cy="538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2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BPCN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Biểu đồ phân cấp chức năng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Mức</a:t>
            </a:r>
            <a:r>
              <a:rPr dirty="0"/>
              <a:t> 0: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Mức</a:t>
            </a:r>
            <a:r>
              <a:rPr dirty="0"/>
              <a:t> 1: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</a:t>
            </a:r>
            <a:r>
              <a:rPr dirty="0" err="1"/>
              <a:t>ài</a:t>
            </a:r>
            <a:r>
              <a:rPr dirty="0"/>
              <a:t> </a:t>
            </a:r>
            <a:r>
              <a:rPr dirty="0" err="1"/>
              <a:t>khoản</a:t>
            </a:r>
            <a:r>
              <a:rPr dirty="0"/>
              <a:t> |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</a:t>
            </a:r>
            <a:r>
              <a:rPr dirty="0" err="1"/>
              <a:t>àn</a:t>
            </a:r>
            <a:r>
              <a:rPr dirty="0"/>
              <a:t> &amp;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|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dirty="0" err="1"/>
              <a:t>Bếp</a:t>
            </a:r>
            <a:r>
              <a:rPr dirty="0"/>
              <a:t> | Thanh </a:t>
            </a:r>
            <a:r>
              <a:rPr dirty="0" err="1"/>
              <a:t>toán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dirty="0"/>
              <a:t> |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</a:t>
            </a:r>
            <a:r>
              <a:rPr dirty="0" err="1"/>
              <a:t>ho</a:t>
            </a:r>
            <a:r>
              <a:rPr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dirty="0"/>
              <a:t>|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.</a:t>
            </a:r>
            <a:endParaRPr dirty="0"/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Mức</a:t>
            </a:r>
            <a:r>
              <a:rPr dirty="0"/>
              <a:t> 2: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chức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chi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phạm</a:t>
            </a:r>
            <a:r>
              <a:rPr dirty="0"/>
              <a:t> vi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mềm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QUY TRÌNH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Quy trình nghiệp vụ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07592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585F6A"/>
                </a:solidFill>
                <a:latin typeface="Segoe UI"/>
              </a:defRPr>
            </a:pPr>
            <a:r>
              <a:t>Luồng dữ liệu từ order tới doanh thu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Phục vụ</a:t>
            </a:r>
            <a:br/>
            <a:r>
              <a:t>nhận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14600"/>
            <a:ext cx="1828800" cy="256032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627632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3406140"/>
            <a:ext cx="301752" cy="0"/>
          </a:xfrm>
          <a:prstGeom prst="line">
            <a:avLst/>
          </a:prstGeom>
          <a:ln w="30480">
            <a:solidFill>
              <a:srgbClr val="E99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44952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Gửi bếp</a:t>
            </a:r>
            <a:br/>
            <a:r>
              <a:t>chế biến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4952" y="2514600"/>
            <a:ext cx="1828800" cy="256032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58184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73752" y="3406140"/>
            <a:ext cx="301752" cy="0"/>
          </a:xfrm>
          <a:prstGeom prst="line">
            <a:avLst/>
          </a:prstGeom>
          <a:ln w="30480">
            <a:solidFill>
              <a:srgbClr val="E99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75504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Bếp hoàn tất</a:t>
            </a:r>
            <a:br/>
            <a:r>
              <a:t>trừ kho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75504" y="2514600"/>
            <a:ext cx="1828800" cy="256032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888736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04304" y="3406140"/>
            <a:ext cx="301752" cy="0"/>
          </a:xfrm>
          <a:prstGeom prst="line">
            <a:avLst/>
          </a:prstGeom>
          <a:ln w="30480">
            <a:solidFill>
              <a:srgbClr val="E99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06056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Thu ngân</a:t>
            </a:r>
            <a:br/>
            <a:r>
              <a:t>thanh toán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056" y="2514600"/>
            <a:ext cx="1828800" cy="256032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19288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34856" y="3406140"/>
            <a:ext cx="301752" cy="0"/>
          </a:xfrm>
          <a:prstGeom prst="line">
            <a:avLst/>
          </a:prstGeom>
          <a:ln w="30480">
            <a:solidFill>
              <a:srgbClr val="E99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36608" y="2514600"/>
            <a:ext cx="1828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500"/>
              </a:spcBef>
              <a:defRPr sz="1700" b="1">
                <a:solidFill>
                  <a:srgbClr val="22262C"/>
                </a:solidFill>
                <a:latin typeface="Segoe UI"/>
              </a:defRPr>
            </a:pPr>
            <a:r>
              <a:t>Cập nhật</a:t>
            </a:r>
            <a:br/>
            <a:r>
              <a:t>doanh thu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36608" y="2514600"/>
            <a:ext cx="1828800" cy="256032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149840" y="4434840"/>
            <a:ext cx="411480" cy="411480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029200"/>
            <a:ext cx="10332720" cy="960120"/>
          </a:xfrm>
          <a:prstGeom prst="roundRect">
            <a:avLst/>
          </a:prstGeom>
          <a:solidFill>
            <a:srgbClr val="F0F7F8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>
                <a:solidFill>
                  <a:srgbClr val="585F6A"/>
                </a:solidFill>
                <a:latin typeface="Segoe UI"/>
              </a:defRPr>
            </a:pPr>
            <a:r>
              <a:t>Mục tiêu: đồng bộ trạng thái bàn theo thời gian thực và kiểm soát tồn kho tự động sau mỗi món hoàn tất.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KẾT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Kết quả triển khai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ổn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lang="en-US" dirty="0"/>
              <a:t>web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qua </a:t>
            </a:r>
            <a:r>
              <a:rPr dirty="0" err="1"/>
              <a:t>mạng</a:t>
            </a:r>
            <a:r>
              <a:rPr dirty="0"/>
              <a:t> LAN.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món</a:t>
            </a:r>
            <a:r>
              <a:rPr dirty="0"/>
              <a:t> </a:t>
            </a:r>
            <a:r>
              <a:rPr dirty="0" err="1"/>
              <a:t>ăn</a:t>
            </a:r>
            <a:r>
              <a:rPr dirty="0"/>
              <a:t>, </a:t>
            </a:r>
            <a:r>
              <a:rPr dirty="0" err="1"/>
              <a:t>tồn</a:t>
            </a:r>
            <a:r>
              <a:rPr dirty="0"/>
              <a:t> </a:t>
            </a:r>
            <a:r>
              <a:rPr dirty="0" err="1"/>
              <a:t>kho</a:t>
            </a:r>
            <a:r>
              <a:rPr dirty="0"/>
              <a:t>,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xuyên</a:t>
            </a:r>
            <a:r>
              <a:rPr dirty="0"/>
              <a:t> </a:t>
            </a:r>
            <a:r>
              <a:rPr dirty="0" err="1"/>
              <a:t>suốt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Giao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thao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thân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,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nâng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MỞ RỘNG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Hạn chế và hướng phát triển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1828800"/>
            <a:ext cx="10012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Hiện chưa có dashboard biểu đồ nâng cao theo thời gian.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Chưa tích hợp sao lưu tự động hoặc đa chi nhánh.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Hướng phát triển: phân quyền chi tiết hơn và xác thực bảo mật cao hơn.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t>- Mở rộng API cho ứng dụng di động và cổng thanh toán trực tuyến.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647" cy="146304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18520" y="256032"/>
            <a:ext cx="310896" cy="310896"/>
          </a:xfrm>
          <a:prstGeom prst="ellipse">
            <a:avLst/>
          </a:prstGeom>
          <a:solidFill>
            <a:srgbClr val="E99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384280" y="347472"/>
            <a:ext cx="182880" cy="182880"/>
          </a:xfrm>
          <a:prstGeom prst="ellipse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64040" y="219456"/>
            <a:ext cx="1371600" cy="402336"/>
          </a:xfrm>
          <a:prstGeom prst="roundRect">
            <a:avLst/>
          </a:prstGeom>
          <a:solidFill>
            <a:srgbClr val="21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KẾT THÚC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55080"/>
            <a:ext cx="10881360" cy="18288"/>
          </a:xfrm>
          <a:prstGeom prst="rect">
            <a:avLst/>
          </a:prstGeom>
          <a:solidFill>
            <a:srgbClr val="D3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85F6A"/>
                </a:solidFill>
                <a:latin typeface="Segoe UI"/>
              </a:defRPr>
            </a:pPr>
            <a:r>
              <a:t>Đề tài: Hệ thống quản lý nhà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"/>
            <a:ext cx="87782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213A5A"/>
                </a:solidFill>
                <a:latin typeface="Segoe UI"/>
              </a:defRPr>
            </a:pPr>
            <a:r>
              <a:t>Kết luận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105613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7552" y="1783080"/>
            <a:ext cx="109728" cy="4160520"/>
          </a:xfrm>
          <a:prstGeom prst="rect">
            <a:avLst/>
          </a:prstGeom>
          <a:solidFill>
            <a:srgbClr val="0A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1531" y="1828800"/>
            <a:ext cx="1001268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cốt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2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gọn</a:t>
            </a:r>
            <a:r>
              <a:rPr dirty="0"/>
              <a:t>,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vận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trì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400" b="0">
                <a:solidFill>
                  <a:srgbClr val="22262C"/>
                </a:solidFill>
                <a:latin typeface="Segoe UI"/>
              </a:defRPr>
            </a:pPr>
            <a:r>
              <a:rPr dirty="0"/>
              <a:t>- CSDL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rõ</a:t>
            </a:r>
            <a:r>
              <a:rPr dirty="0"/>
              <a:t> </a:t>
            </a:r>
            <a:r>
              <a:rPr dirty="0" err="1"/>
              <a:t>ràng</a:t>
            </a:r>
            <a:r>
              <a:rPr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vết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quán</a:t>
            </a:r>
            <a:r>
              <a:rPr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1178</Words>
  <Application>Microsoft Office PowerPoint</Application>
  <PresentationFormat>Widescreen</PresentationFormat>
  <Paragraphs>137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Lê Minh</cp:lastModifiedBy>
  <cp:revision>3</cp:revision>
  <dcterms:created xsi:type="dcterms:W3CDTF">2013-01-27T09:14:16Z</dcterms:created>
  <dcterms:modified xsi:type="dcterms:W3CDTF">2026-04-05T04:13:29Z</dcterms:modified>
  <cp:category/>
</cp:coreProperties>
</file>